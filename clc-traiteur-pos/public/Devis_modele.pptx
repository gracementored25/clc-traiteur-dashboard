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3" r:id="rId21"/>
  </p:sldIdLst>
  <p:sldSz cx="7562850" cy="106965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71F"/>
    <a:srgbClr val="C99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84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- Photographie de couverture générée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- Photographies culinaires générées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- Photographies culinaires générées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- Photographies culinaires générées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- Photographies culinaires générées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- Photographies culinaires générées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- Photographies des prestations générées spécifiquement pour cette page.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Font Awesome Free icons — https://fontawesome.com/license/free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- Photographie de table générée pour ce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Référence visuelle fournie par l’utilisateur : 01-image.png.</a:t>
            </a:r>
          </a:p>
          <a:p>
            <a:r>
              <a:t>- Lucide icons — https://lucide.dev/license</a:t>
            </a:r>
          </a:p>
          <a:p>
            <a:r>
              <a:t>- Material Design Icons via Iconify — https://iconify.design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30.sv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jpe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23" Type="http://schemas.openxmlformats.org/officeDocument/2006/relationships/image" Target="../media/image35.jpeg"/><Relationship Id="rId28" Type="http://schemas.openxmlformats.org/officeDocument/2006/relationships/image" Target="../media/image14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svg"/><Relationship Id="rId9" Type="http://schemas.openxmlformats.org/officeDocument/2006/relationships/image" Target="../media/image21.jpeg"/><Relationship Id="rId14" Type="http://schemas.openxmlformats.org/officeDocument/2006/relationships/image" Target="../media/image26.png"/><Relationship Id="rId22" Type="http://schemas.openxmlformats.org/officeDocument/2006/relationships/image" Target="../media/image34.svg"/><Relationship Id="rId27" Type="http://schemas.openxmlformats.org/officeDocument/2006/relationships/image" Target="../media/image3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3.svg"/><Relationship Id="rId18" Type="http://schemas.openxmlformats.org/officeDocument/2006/relationships/image" Target="../media/image41.jpeg"/><Relationship Id="rId26" Type="http://schemas.openxmlformats.org/officeDocument/2006/relationships/image" Target="../media/image14.png"/><Relationship Id="rId3" Type="http://schemas.openxmlformats.org/officeDocument/2006/relationships/image" Target="../media/image15.png"/><Relationship Id="rId21" Type="http://schemas.openxmlformats.org/officeDocument/2006/relationships/image" Target="../media/image42.jpe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5" Type="http://schemas.openxmlformats.org/officeDocument/2006/relationships/image" Target="../media/image44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24" Type="http://schemas.openxmlformats.org/officeDocument/2006/relationships/image" Target="../media/image43.png"/><Relationship Id="rId5" Type="http://schemas.openxmlformats.org/officeDocument/2006/relationships/image" Target="../media/image17.png"/><Relationship Id="rId15" Type="http://schemas.openxmlformats.org/officeDocument/2006/relationships/image" Target="../media/image34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1.png"/><Relationship Id="rId4" Type="http://schemas.openxmlformats.org/officeDocument/2006/relationships/image" Target="../media/image16.svg"/><Relationship Id="rId9" Type="http://schemas.openxmlformats.org/officeDocument/2006/relationships/image" Target="../media/image40.jpeg"/><Relationship Id="rId14" Type="http://schemas.openxmlformats.org/officeDocument/2006/relationships/image" Target="../media/image33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49.svg"/><Relationship Id="rId18" Type="http://schemas.openxmlformats.org/officeDocument/2006/relationships/image" Target="../media/image23.svg"/><Relationship Id="rId26" Type="http://schemas.openxmlformats.org/officeDocument/2006/relationships/image" Target="../media/image14.png"/><Relationship Id="rId3" Type="http://schemas.openxmlformats.org/officeDocument/2006/relationships/image" Target="../media/image15.png"/><Relationship Id="rId21" Type="http://schemas.openxmlformats.org/officeDocument/2006/relationships/image" Target="../media/image51.jpeg"/><Relationship Id="rId7" Type="http://schemas.openxmlformats.org/officeDocument/2006/relationships/image" Target="../media/image19.png"/><Relationship Id="rId12" Type="http://schemas.openxmlformats.org/officeDocument/2006/relationships/image" Target="../media/image48.png"/><Relationship Id="rId17" Type="http://schemas.openxmlformats.org/officeDocument/2006/relationships/image" Target="../media/image22.png"/><Relationship Id="rId25" Type="http://schemas.openxmlformats.org/officeDocument/2006/relationships/image" Target="../media/image4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jpe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47.svg"/><Relationship Id="rId24" Type="http://schemas.openxmlformats.org/officeDocument/2006/relationships/image" Target="../media/image43.png"/><Relationship Id="rId5" Type="http://schemas.openxmlformats.org/officeDocument/2006/relationships/image" Target="../media/image17.png"/><Relationship Id="rId15" Type="http://schemas.openxmlformats.org/officeDocument/2006/relationships/image" Target="../media/image39.svg"/><Relationship Id="rId23" Type="http://schemas.openxmlformats.org/officeDocument/2006/relationships/image" Target="../media/image37.svg"/><Relationship Id="rId10" Type="http://schemas.openxmlformats.org/officeDocument/2006/relationships/image" Target="../media/image46.png"/><Relationship Id="rId19" Type="http://schemas.openxmlformats.org/officeDocument/2006/relationships/image" Target="../media/image24.png"/><Relationship Id="rId4" Type="http://schemas.openxmlformats.org/officeDocument/2006/relationships/image" Target="../media/image16.svg"/><Relationship Id="rId9" Type="http://schemas.openxmlformats.org/officeDocument/2006/relationships/image" Target="../media/image45.jpeg"/><Relationship Id="rId14" Type="http://schemas.openxmlformats.org/officeDocument/2006/relationships/image" Target="../media/image38.png"/><Relationship Id="rId22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47.svg"/><Relationship Id="rId18" Type="http://schemas.openxmlformats.org/officeDocument/2006/relationships/image" Target="../media/image25.svg"/><Relationship Id="rId26" Type="http://schemas.openxmlformats.org/officeDocument/2006/relationships/image" Target="../media/image14.png"/><Relationship Id="rId3" Type="http://schemas.openxmlformats.org/officeDocument/2006/relationships/image" Target="../media/image15.png"/><Relationship Id="rId21" Type="http://schemas.openxmlformats.org/officeDocument/2006/relationships/image" Target="../media/image36.png"/><Relationship Id="rId7" Type="http://schemas.openxmlformats.org/officeDocument/2006/relationships/image" Target="../media/image19.png"/><Relationship Id="rId12" Type="http://schemas.openxmlformats.org/officeDocument/2006/relationships/image" Target="../media/image46.png"/><Relationship Id="rId17" Type="http://schemas.openxmlformats.org/officeDocument/2006/relationships/image" Target="../media/image24.png"/><Relationship Id="rId25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jpe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39.svg"/><Relationship Id="rId24" Type="http://schemas.openxmlformats.org/officeDocument/2006/relationships/image" Target="../media/image26.png"/><Relationship Id="rId5" Type="http://schemas.openxmlformats.org/officeDocument/2006/relationships/image" Target="../media/image17.png"/><Relationship Id="rId15" Type="http://schemas.openxmlformats.org/officeDocument/2006/relationships/image" Target="../media/image49.svg"/><Relationship Id="rId23" Type="http://schemas.openxmlformats.org/officeDocument/2006/relationships/image" Target="../media/image54.jpeg"/><Relationship Id="rId10" Type="http://schemas.openxmlformats.org/officeDocument/2006/relationships/image" Target="../media/image38.png"/><Relationship Id="rId19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52.jpeg"/><Relationship Id="rId14" Type="http://schemas.openxmlformats.org/officeDocument/2006/relationships/image" Target="../media/image48.png"/><Relationship Id="rId22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34.svg"/><Relationship Id="rId18" Type="http://schemas.openxmlformats.org/officeDocument/2006/relationships/image" Target="../media/image32.svg"/><Relationship Id="rId3" Type="http://schemas.openxmlformats.org/officeDocument/2006/relationships/image" Target="../media/image15.png"/><Relationship Id="rId21" Type="http://schemas.openxmlformats.org/officeDocument/2006/relationships/image" Target="../media/image37.svg"/><Relationship Id="rId7" Type="http://schemas.openxmlformats.org/officeDocument/2006/relationships/image" Target="../media/image19.png"/><Relationship Id="rId12" Type="http://schemas.openxmlformats.org/officeDocument/2006/relationships/image" Target="../media/image33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jpe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24" Type="http://schemas.openxmlformats.org/officeDocument/2006/relationships/image" Target="../media/image14.pn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23" Type="http://schemas.openxmlformats.org/officeDocument/2006/relationships/image" Target="../media/image49.svg"/><Relationship Id="rId10" Type="http://schemas.openxmlformats.org/officeDocument/2006/relationships/image" Target="../media/image22.png"/><Relationship Id="rId19" Type="http://schemas.openxmlformats.org/officeDocument/2006/relationships/image" Target="../media/image57.jpeg"/><Relationship Id="rId4" Type="http://schemas.openxmlformats.org/officeDocument/2006/relationships/image" Target="../media/image16.svg"/><Relationship Id="rId9" Type="http://schemas.openxmlformats.org/officeDocument/2006/relationships/image" Target="../media/image55.jpeg"/><Relationship Id="rId14" Type="http://schemas.openxmlformats.org/officeDocument/2006/relationships/image" Target="../media/image26.png"/><Relationship Id="rId22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13" Type="http://schemas.openxmlformats.org/officeDocument/2006/relationships/image" Target="../media/image68.svg"/><Relationship Id="rId3" Type="http://schemas.openxmlformats.org/officeDocument/2006/relationships/image" Target="../media/image58.jpeg"/><Relationship Id="rId7" Type="http://schemas.openxmlformats.org/officeDocument/2006/relationships/image" Target="../media/image62.jpe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eg"/><Relationship Id="rId11" Type="http://schemas.openxmlformats.org/officeDocument/2006/relationships/image" Target="../media/image66.jpeg"/><Relationship Id="rId5" Type="http://schemas.openxmlformats.org/officeDocument/2006/relationships/image" Target="../media/image60.svg"/><Relationship Id="rId10" Type="http://schemas.openxmlformats.org/officeDocument/2006/relationships/image" Target="../media/image65.jpeg"/><Relationship Id="rId4" Type="http://schemas.openxmlformats.org/officeDocument/2006/relationships/image" Target="../media/image59.png"/><Relationship Id="rId9" Type="http://schemas.openxmlformats.org/officeDocument/2006/relationships/image" Target="../media/image64.jpe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svg"/><Relationship Id="rId9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sv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svg"/><Relationship Id="rId9" Type="http://schemas.openxmlformats.org/officeDocument/2006/relationships/image" Target="../media/image7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svg"/><Relationship Id="rId9" Type="http://schemas.openxmlformats.org/officeDocument/2006/relationships/image" Target="../media/image7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svg"/><Relationship Id="rId9" Type="http://schemas.openxmlformats.org/officeDocument/2006/relationships/image" Target="../media/image7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13" Type="http://schemas.openxmlformats.org/officeDocument/2006/relationships/image" Target="../media/image89.png"/><Relationship Id="rId18" Type="http://schemas.openxmlformats.org/officeDocument/2006/relationships/image" Target="../media/image9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svg"/><Relationship Id="rId19" Type="http://schemas.openxmlformats.org/officeDocument/2006/relationships/image" Target="../media/image14.png"/><Relationship Id="rId4" Type="http://schemas.openxmlformats.org/officeDocument/2006/relationships/image" Target="../media/image80.svg"/><Relationship Id="rId9" Type="http://schemas.openxmlformats.org/officeDocument/2006/relationships/image" Target="../media/image85.png"/><Relationship Id="rId14" Type="http://schemas.openxmlformats.org/officeDocument/2006/relationships/image" Target="../media/image9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7.jpeg"/><Relationship Id="rId4" Type="http://schemas.openxmlformats.org/officeDocument/2006/relationships/image" Target="../media/image9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13" Type="http://schemas.openxmlformats.org/officeDocument/2006/relationships/image" Target="../media/image108.png"/><Relationship Id="rId18" Type="http://schemas.openxmlformats.org/officeDocument/2006/relationships/image" Target="../media/image113.sv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svg"/><Relationship Id="rId17" Type="http://schemas.openxmlformats.org/officeDocument/2006/relationships/image" Target="../media/image112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11.svg"/><Relationship Id="rId20" Type="http://schemas.openxmlformats.org/officeDocument/2006/relationships/image" Target="../media/image1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svg"/><Relationship Id="rId11" Type="http://schemas.openxmlformats.org/officeDocument/2006/relationships/image" Target="../media/image106.png"/><Relationship Id="rId24" Type="http://schemas.openxmlformats.org/officeDocument/2006/relationships/image" Target="../media/image119.sv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svg"/><Relationship Id="rId19" Type="http://schemas.openxmlformats.org/officeDocument/2006/relationships/image" Target="../media/image114.png"/><Relationship Id="rId4" Type="http://schemas.openxmlformats.org/officeDocument/2006/relationships/image" Target="../media/image99.svg"/><Relationship Id="rId9" Type="http://schemas.openxmlformats.org/officeDocument/2006/relationships/image" Target="../media/image104.png"/><Relationship Id="rId14" Type="http://schemas.openxmlformats.org/officeDocument/2006/relationships/image" Target="../media/image109.svg"/><Relationship Id="rId22" Type="http://schemas.openxmlformats.org/officeDocument/2006/relationships/image" Target="../media/image1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rcRect l="46" r="46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9C727B-4D8F-4573-9FD6-2348138268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031B14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AC35EA7-DB5A-449C-94C5-0CA4A9C23C7C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CBA4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CB160-68B1-40E4-B224-B6F48D6B4A63}"/>
              </a:ext>
            </a:extLst>
          </p:cNvPr>
          <p:cNvSpPr>
            <a:spLocks noGrp="1"/>
          </p:cNvSpPr>
          <p:nvPr/>
        </p:nvSpPr>
        <p:spPr>
          <a:xfrm>
            <a:off x="904875" y="3429000"/>
            <a:ext cx="5753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03" lnSpcReduction="10000"/>
          </a:bodyPr>
          <a:lstStyle/>
          <a:p>
            <a:pPr algn="ctr">
              <a:defRPr sz="7650" b="0" i="0">
                <a:solidFill>
                  <a:srgbClr val="F7E7BD"/>
                </a:solidFill>
                <a:latin typeface="Montserrat"/>
                <a:ea typeface="Montserrat"/>
                <a:cs typeface="Montserrat"/>
              </a:defRPr>
            </a:pPr>
            <a:r>
              <a:rPr sz="7650" b="0" i="0">
                <a:solidFill>
                  <a:srgbClr val="F7E7BD"/>
                </a:solidFill>
                <a:latin typeface="Montserrat"/>
                <a:ea typeface="Montserrat"/>
                <a:cs typeface="Montserrat"/>
              </a:rPr>
              <a:t>DEVIS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0FD5A-F6F3-492C-9F2A-442EED3C6C60}"/>
              </a:ext>
            </a:extLst>
          </p:cNvPr>
          <p:cNvSpPr>
            <a:spLocks noGrp="1"/>
          </p:cNvSpPr>
          <p:nvPr/>
        </p:nvSpPr>
        <p:spPr>
          <a:xfrm>
            <a:off x="904875" y="4343400"/>
            <a:ext cx="5753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72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472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99534-ADAC-452A-AFE6-8C19F783B434}"/>
              </a:ext>
            </a:extLst>
          </p:cNvPr>
          <p:cNvSpPr>
            <a:spLocks noGrp="1"/>
          </p:cNvSpPr>
          <p:nvPr/>
        </p:nvSpPr>
        <p:spPr>
          <a:xfrm>
            <a:off x="1381125" y="5000625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0" i="1">
                <a:solidFill>
                  <a:srgbClr val="EFD7A2"/>
                </a:solidFill>
                <a:latin typeface="Raleway"/>
                <a:ea typeface="Raleway"/>
                <a:cs typeface="Raleway"/>
              </a:defRPr>
            </a:pPr>
            <a:r>
              <a:rPr sz="2100" b="0" i="1">
                <a:solidFill>
                  <a:srgbClr val="EFD7A2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3D9FDAC-15B2-4911-BEF5-B42DB59A2BAF}"/>
              </a:ext>
            </a:extLst>
          </p:cNvPr>
          <p:cNvSpPr>
            <a:spLocks noGrp="1"/>
          </p:cNvSpPr>
          <p:nvPr/>
        </p:nvSpPr>
        <p:spPr>
          <a:xfrm>
            <a:off x="504825" y="7448550"/>
            <a:ext cx="6553200" cy="2362200"/>
          </a:xfrm>
          <a:prstGeom prst="roundRect">
            <a:avLst>
              <a:gd name="adj" fmla="val 7258"/>
            </a:avLst>
          </a:prstGeom>
          <a:solidFill>
            <a:srgbClr val="062B20"/>
          </a:solidFill>
          <a:ln w="19050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Graphique 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9625" y="7781925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EE3948-10BF-4608-9C1B-E4CDBACB0FC7}"/>
              </a:ext>
            </a:extLst>
          </p:cNvPr>
          <p:cNvSpPr>
            <a:spLocks noGrp="1"/>
          </p:cNvSpPr>
          <p:nvPr/>
        </p:nvSpPr>
        <p:spPr>
          <a:xfrm>
            <a:off x="1181100" y="76866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17CAD-1551-4298-916B-4295AE8285CB}"/>
              </a:ext>
            </a:extLst>
          </p:cNvPr>
          <p:cNvSpPr>
            <a:spLocks noGrp="1"/>
          </p:cNvSpPr>
          <p:nvPr/>
        </p:nvSpPr>
        <p:spPr>
          <a:xfrm>
            <a:off x="1181100" y="79248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Votre nom</a:t>
            </a:r>
          </a:p>
        </p:txBody>
      </p:sp>
      <p:pic>
        <p:nvPicPr>
          <p:cNvPr id="39" name="Graphique 3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952875" y="7781925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AD4AFF-A80B-4E73-8D57-0281397731FF}"/>
              </a:ext>
            </a:extLst>
          </p:cNvPr>
          <p:cNvSpPr>
            <a:spLocks noGrp="1"/>
          </p:cNvSpPr>
          <p:nvPr/>
        </p:nvSpPr>
        <p:spPr>
          <a:xfrm>
            <a:off x="4324350" y="76866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03A0A3-4C31-453F-B3E6-DE9997B6EA54}"/>
              </a:ext>
            </a:extLst>
          </p:cNvPr>
          <p:cNvSpPr>
            <a:spLocks noGrp="1"/>
          </p:cNvSpPr>
          <p:nvPr/>
        </p:nvSpPr>
        <p:spPr>
          <a:xfrm>
            <a:off x="4324350" y="79248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25 mai 2025</a:t>
            </a:r>
          </a:p>
        </p:txBody>
      </p:sp>
      <p:pic>
        <p:nvPicPr>
          <p:cNvPr id="42" name="Graphique 4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9625" y="8439150"/>
            <a:ext cx="247650" cy="2476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D4EBFB8-C027-4E25-95E8-F80630230177}"/>
              </a:ext>
            </a:extLst>
          </p:cNvPr>
          <p:cNvSpPr>
            <a:spLocks noGrp="1"/>
          </p:cNvSpPr>
          <p:nvPr/>
        </p:nvSpPr>
        <p:spPr>
          <a:xfrm>
            <a:off x="1181100" y="834390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Événement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E7C32-B91B-46AB-A1E2-CDDD6D76C231}"/>
              </a:ext>
            </a:extLst>
          </p:cNvPr>
          <p:cNvSpPr>
            <a:spLocks noGrp="1"/>
          </p:cNvSpPr>
          <p:nvPr/>
        </p:nvSpPr>
        <p:spPr>
          <a:xfrm>
            <a:off x="1181100" y="8582025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Mariage</a:t>
            </a:r>
          </a:p>
        </p:txBody>
      </p:sp>
      <p:pic>
        <p:nvPicPr>
          <p:cNvPr id="45" name="Graphique 4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3952875" y="8439150"/>
            <a:ext cx="247650" cy="2476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80C80F-4589-4594-89A4-F59C7846ADBB}"/>
              </a:ext>
            </a:extLst>
          </p:cNvPr>
          <p:cNvSpPr>
            <a:spLocks noGrp="1"/>
          </p:cNvSpPr>
          <p:nvPr/>
        </p:nvSpPr>
        <p:spPr>
          <a:xfrm>
            <a:off x="4324350" y="834390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Lieu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403128-3554-417F-8F89-31D603C830AE}"/>
              </a:ext>
            </a:extLst>
          </p:cNvPr>
          <p:cNvSpPr>
            <a:spLocks noGrp="1"/>
          </p:cNvSpPr>
          <p:nvPr/>
        </p:nvSpPr>
        <p:spPr>
          <a:xfrm>
            <a:off x="4324350" y="8582025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pic>
        <p:nvPicPr>
          <p:cNvPr id="48" name="Graphique 47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809625" y="9096375"/>
            <a:ext cx="247650" cy="2476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22E432E-0FD1-48D4-B12B-829E96A8C1E9}"/>
              </a:ext>
            </a:extLst>
          </p:cNvPr>
          <p:cNvSpPr>
            <a:spLocks noGrp="1"/>
          </p:cNvSpPr>
          <p:nvPr/>
        </p:nvSpPr>
        <p:spPr>
          <a:xfrm>
            <a:off x="1181100" y="90011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Contact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5FFAA6-6442-4D0A-935F-FD19C4EDCDCA}"/>
              </a:ext>
            </a:extLst>
          </p:cNvPr>
          <p:cNvSpPr>
            <a:spLocks noGrp="1"/>
          </p:cNvSpPr>
          <p:nvPr/>
        </p:nvSpPr>
        <p:spPr>
          <a:xfrm>
            <a:off x="1181100" y="9239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+33 6 12 34 56 78</a:t>
            </a:r>
          </a:p>
        </p:txBody>
      </p:sp>
      <p:pic>
        <p:nvPicPr>
          <p:cNvPr id="51" name="Graphique 50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3952875" y="9096375"/>
            <a:ext cx="247650" cy="2476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2F681BF-B5CB-4276-96CE-DC2A376E99A9}"/>
              </a:ext>
            </a:extLst>
          </p:cNvPr>
          <p:cNvSpPr>
            <a:spLocks noGrp="1"/>
          </p:cNvSpPr>
          <p:nvPr/>
        </p:nvSpPr>
        <p:spPr>
          <a:xfrm>
            <a:off x="4324350" y="90011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D7B36D"/>
                </a:solidFill>
                <a:latin typeface="Raleway"/>
                <a:ea typeface="Raleway"/>
                <a:cs typeface="Raleway"/>
              </a:rPr>
              <a:t>N° Devis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D473F1-18FE-4E91-98EE-EFA1EAB633EA}"/>
              </a:ext>
            </a:extLst>
          </p:cNvPr>
          <p:cNvSpPr>
            <a:spLocks noGrp="1"/>
          </p:cNvSpPr>
          <p:nvPr/>
        </p:nvSpPr>
        <p:spPr>
          <a:xfrm>
            <a:off x="4324350" y="9239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350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DEV-2025-0587</a:t>
            </a:r>
          </a:p>
        </p:txBody>
      </p:sp>
      <p:pic>
        <p:nvPicPr>
          <p:cNvPr id="9" name="Image 8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D4331271-0622-9DEC-58C8-B04BDA23F3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34" y="628344"/>
            <a:ext cx="2200582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9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C43C10A4-1AD0-4886-8195-08603794BE4E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D25FB-0AD2-4C1D-8CFC-FBEC53CC0268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 dirty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C74984-E620-4EDA-87F1-23014F6852BC}"/>
              </a:ext>
            </a:extLst>
          </p:cNvPr>
          <p:cNvSpPr>
            <a:spLocks noGrp="1"/>
          </p:cNvSpPr>
          <p:nvPr/>
        </p:nvSpPr>
        <p:spPr>
          <a:xfrm>
            <a:off x="3181351" y="514351"/>
            <a:ext cx="2038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 dirty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</a:t>
            </a:r>
            <a:r>
              <a:rPr sz="1050" b="0" i="1" dirty="0" err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événementiel</a:t>
            </a:r>
            <a:endParaRPr sz="1050" b="0" i="1" dirty="0">
              <a:solidFill>
                <a:srgbClr val="15271F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76383-D916-47F0-9AEC-326AE18F262B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 dirty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MARIAGE</a:t>
            </a:r>
          </a:p>
        </p:txBody>
      </p:sp>
      <p:pic>
        <p:nvPicPr>
          <p:cNvPr id="80" name="Graphiqu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52525" y="1809750"/>
            <a:ext cx="180975" cy="180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997298-E51A-4C56-8C23-40EBDE633F5F}"/>
              </a:ext>
            </a:extLst>
          </p:cNvPr>
          <p:cNvSpPr>
            <a:spLocks noGrp="1"/>
          </p:cNvSpPr>
          <p:nvPr/>
        </p:nvSpPr>
        <p:spPr>
          <a:xfrm>
            <a:off x="1409700" y="1762125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77F43488-7C45-4742-ACF9-DF5F794F0A19}"/>
              </a:ext>
            </a:extLst>
          </p:cNvPr>
          <p:cNvSpPr>
            <a:spLocks noGrp="1"/>
          </p:cNvSpPr>
          <p:nvPr/>
        </p:nvSpPr>
        <p:spPr>
          <a:xfrm>
            <a:off x="27527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3" name="Graphique 8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867025" y="1809750"/>
            <a:ext cx="180975" cy="180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B5DF06-E53F-4C8D-AE39-09B0833226BF}"/>
              </a:ext>
            </a:extLst>
          </p:cNvPr>
          <p:cNvSpPr>
            <a:spLocks noGrp="1"/>
          </p:cNvSpPr>
          <p:nvPr/>
        </p:nvSpPr>
        <p:spPr>
          <a:xfrm>
            <a:off x="3124200" y="1762125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mai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804C89DA-19BA-4529-B6AD-8B51174C1A55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6" name="Graphique 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62525" y="1809750"/>
            <a:ext cx="180975" cy="180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97D802A-8F1A-42BE-AA55-603F0F6F6D4D}"/>
              </a:ext>
            </a:extLst>
          </p:cNvPr>
          <p:cNvSpPr>
            <a:spLocks noGrp="1"/>
          </p:cNvSpPr>
          <p:nvPr/>
        </p:nvSpPr>
        <p:spPr>
          <a:xfrm>
            <a:off x="5219700" y="1762125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F17B66A-FD8A-4027-A603-5A09344B396D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C714E7C-D255-42D7-BC4E-987128FF5527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0" name="Image 89"/>
          <p:cNvPicPr>
            <a:picLocks noChangeAspect="1"/>
          </p:cNvPicPr>
          <p:nvPr/>
        </p:nvPicPr>
        <p:blipFill>
          <a:blip r:embed="rId9"/>
          <a:srcRect l="3082" r="3082"/>
          <a:stretch>
            <a:fillRect/>
          </a:stretch>
        </p:blipFill>
        <p:spPr>
          <a:xfrm>
            <a:off x="3038475" y="225742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6BE743-C984-4BC7-ADFA-B14CD3C5521E}"/>
              </a:ext>
            </a:extLst>
          </p:cNvPr>
          <p:cNvSpPr>
            <a:spLocks noGrp="1"/>
          </p:cNvSpPr>
          <p:nvPr/>
        </p:nvSpPr>
        <p:spPr>
          <a:xfrm>
            <a:off x="581025" y="22860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Vin d’honneur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F5192E-3DEB-4872-A0AD-C6D447749908}"/>
              </a:ext>
            </a:extLst>
          </p:cNvPr>
          <p:cNvSpPr>
            <a:spLocks noGrp="1"/>
          </p:cNvSpPr>
          <p:nvPr/>
        </p:nvSpPr>
        <p:spPr>
          <a:xfrm>
            <a:off x="581025" y="26098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Cocktails et bouchées élégantes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53AB97E-1163-426F-9865-9506B38DBE70}"/>
              </a:ext>
            </a:extLst>
          </p:cNvPr>
          <p:cNvSpPr>
            <a:spLocks noGrp="1"/>
          </p:cNvSpPr>
          <p:nvPr/>
        </p:nvSpPr>
        <p:spPr>
          <a:xfrm>
            <a:off x="6010275" y="225742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45472B-7487-463F-A72E-4A6BE973C17C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A8644C-9697-4480-BFFC-0505AEDF45FB}"/>
              </a:ext>
            </a:extLst>
          </p:cNvPr>
          <p:cNvSpPr>
            <a:spLocks noGrp="1"/>
          </p:cNvSpPr>
          <p:nvPr/>
        </p:nvSpPr>
        <p:spPr>
          <a:xfrm>
            <a:off x="6048375" y="24860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 dirty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1 950 €</a:t>
            </a:r>
          </a:p>
        </p:txBody>
      </p:sp>
      <p:pic>
        <p:nvPicPr>
          <p:cNvPr id="96" name="Graphique 9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143250"/>
            <a:ext cx="200025" cy="2000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C9999E1-9005-4418-A993-A73F6B31B90C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Brochettes de crevettes marinées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371B1-3422-469C-9803-05361AFE6E32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99" name="Graphique 9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457575"/>
            <a:ext cx="200025" cy="2000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CE62870-2409-45FA-8104-187DA8A9B056}"/>
              </a:ext>
            </a:extLst>
          </p:cNvPr>
          <p:cNvSpPr>
            <a:spLocks noGrp="1"/>
          </p:cNvSpPr>
          <p:nvPr/>
        </p:nvSpPr>
        <p:spPr>
          <a:xfrm>
            <a:off x="885825" y="34099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Accras de morue &amp; sauce aïoli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0DC293-C83F-4FE5-94DA-7FD3727B66C8}"/>
              </a:ext>
            </a:extLst>
          </p:cNvPr>
          <p:cNvSpPr>
            <a:spLocks noGrp="1"/>
          </p:cNvSpPr>
          <p:nvPr/>
        </p:nvSpPr>
        <p:spPr>
          <a:xfrm>
            <a:off x="5267325" y="34099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convives</a:t>
            </a:r>
          </a:p>
        </p:txBody>
      </p:sp>
      <p:pic>
        <p:nvPicPr>
          <p:cNvPr id="102" name="Graphique 10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771900"/>
            <a:ext cx="200025" cy="2000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A5E1C53-9412-431F-A6D5-A794CBC29B4E}"/>
              </a:ext>
            </a:extLst>
          </p:cNvPr>
          <p:cNvSpPr>
            <a:spLocks noGrp="1"/>
          </p:cNvSpPr>
          <p:nvPr/>
        </p:nvSpPr>
        <p:spPr>
          <a:xfrm>
            <a:off x="885825" y="37242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samoussas au bœuf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6949F9-D3BF-421D-9A56-437326186B1E}"/>
              </a:ext>
            </a:extLst>
          </p:cNvPr>
          <p:cNvSpPr>
            <a:spLocks noGrp="1"/>
          </p:cNvSpPr>
          <p:nvPr/>
        </p:nvSpPr>
        <p:spPr>
          <a:xfrm>
            <a:off x="5267325" y="37242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convives</a:t>
            </a:r>
          </a:p>
        </p:txBody>
      </p:sp>
      <p:pic>
        <p:nvPicPr>
          <p:cNvPr id="105" name="Graphique 104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4086225"/>
            <a:ext cx="200025" cy="2000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CFEE399-E115-40E0-A0B0-8342D75CD56B}"/>
              </a:ext>
            </a:extLst>
          </p:cNvPr>
          <p:cNvSpPr>
            <a:spLocks noGrp="1"/>
          </p:cNvSpPr>
          <p:nvPr/>
        </p:nvSpPr>
        <p:spPr>
          <a:xfrm>
            <a:off x="885825" y="40386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Jus de bissap &amp; gingembre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3BFCC3-4FBF-4972-A976-7D19190887BC}"/>
              </a:ext>
            </a:extLst>
          </p:cNvPr>
          <p:cNvSpPr>
            <a:spLocks noGrp="1"/>
          </p:cNvSpPr>
          <p:nvPr/>
        </p:nvSpPr>
        <p:spPr>
          <a:xfrm>
            <a:off x="5267325" y="40386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6B061E8-F5B7-4529-A1CA-CCBE6D79146D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FAFEEB1-F3FD-4A65-92E3-8D3A0BD859B4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0" name="Image 109"/>
          <p:cNvPicPr>
            <a:picLocks noChangeAspect="1"/>
          </p:cNvPicPr>
          <p:nvPr/>
        </p:nvPicPr>
        <p:blipFill>
          <a:blip r:embed="rId16"/>
          <a:srcRect l="3082" r="3082"/>
          <a:stretch>
            <a:fillRect/>
          </a:stretch>
        </p:blipFill>
        <p:spPr>
          <a:xfrm>
            <a:off x="3038475" y="4648200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39133B5-260C-4B22-9058-8B1A785AE60C}"/>
              </a:ext>
            </a:extLst>
          </p:cNvPr>
          <p:cNvSpPr>
            <a:spLocks noGrp="1"/>
          </p:cNvSpPr>
          <p:nvPr/>
        </p:nvSpPr>
        <p:spPr>
          <a:xfrm>
            <a:off x="581025" y="4676775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Dîner de réception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8B05E5-A44D-445F-B060-B240711FE6DD}"/>
              </a:ext>
            </a:extLst>
          </p:cNvPr>
          <p:cNvSpPr>
            <a:spLocks noGrp="1"/>
          </p:cNvSpPr>
          <p:nvPr/>
        </p:nvSpPr>
        <p:spPr>
          <a:xfrm>
            <a:off x="581025" y="5000625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Menu gastronomique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73D1B634-C007-460E-B347-0BE5D3278D16}"/>
              </a:ext>
            </a:extLst>
          </p:cNvPr>
          <p:cNvSpPr>
            <a:spLocks noGrp="1"/>
          </p:cNvSpPr>
          <p:nvPr/>
        </p:nvSpPr>
        <p:spPr>
          <a:xfrm>
            <a:off x="6010275" y="4648200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A62C02-E06C-44D4-9976-A57C4B1AB4F2}"/>
              </a:ext>
            </a:extLst>
          </p:cNvPr>
          <p:cNvSpPr>
            <a:spLocks noGrp="1"/>
          </p:cNvSpPr>
          <p:nvPr/>
        </p:nvSpPr>
        <p:spPr>
          <a:xfrm>
            <a:off x="6076950" y="4695825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C0BC69-7199-4C26-A691-919B9649EB61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7 450 €</a:t>
            </a:r>
          </a:p>
        </p:txBody>
      </p:sp>
      <p:pic>
        <p:nvPicPr>
          <p:cNvPr id="116" name="Graphique 115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571500" y="5534025"/>
            <a:ext cx="200025" cy="20002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95B1BD5-1EDA-43CB-A1C2-C34B99C174BD}"/>
              </a:ext>
            </a:extLst>
          </p:cNvPr>
          <p:cNvSpPr>
            <a:spLocks noGrp="1"/>
          </p:cNvSpPr>
          <p:nvPr/>
        </p:nvSpPr>
        <p:spPr>
          <a:xfrm>
            <a:off x="885825" y="54864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Velouté de légumes de saison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C0970D-4F54-490C-9C5A-AD0C8C4DDD70}"/>
              </a:ext>
            </a:extLst>
          </p:cNvPr>
          <p:cNvSpPr>
            <a:spLocks noGrp="1"/>
          </p:cNvSpPr>
          <p:nvPr/>
        </p:nvSpPr>
        <p:spPr>
          <a:xfrm>
            <a:off x="5267325" y="54864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pic>
        <p:nvPicPr>
          <p:cNvPr id="119" name="Graphique 118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571500" y="5848350"/>
            <a:ext cx="200025" cy="20002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63A4D193-FC76-42CF-9323-BC9824A04C9C}"/>
              </a:ext>
            </a:extLst>
          </p:cNvPr>
          <p:cNvSpPr>
            <a:spLocks noGrp="1"/>
          </p:cNvSpPr>
          <p:nvPr/>
        </p:nvSpPr>
        <p:spPr>
          <a:xfrm>
            <a:off x="885825" y="58007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Filet de bar sauce beurre blanc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FD20B2-009C-4DD7-98E3-8C3EE86815E6}"/>
              </a:ext>
            </a:extLst>
          </p:cNvPr>
          <p:cNvSpPr>
            <a:spLocks noGrp="1"/>
          </p:cNvSpPr>
          <p:nvPr/>
        </p:nvSpPr>
        <p:spPr>
          <a:xfrm>
            <a:off x="5267325" y="58007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pic>
        <p:nvPicPr>
          <p:cNvPr id="122" name="Graphique 121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6162675"/>
            <a:ext cx="200025" cy="20002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5235F08C-9552-4755-9DE2-6AA1025118CD}"/>
              </a:ext>
            </a:extLst>
          </p:cNvPr>
          <p:cNvSpPr>
            <a:spLocks noGrp="1"/>
          </p:cNvSpPr>
          <p:nvPr/>
        </p:nvSpPr>
        <p:spPr>
          <a:xfrm>
            <a:off x="885825" y="61150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Riz parfumé aux épices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429A79-943A-4173-BCE1-A5352A90E865}"/>
              </a:ext>
            </a:extLst>
          </p:cNvPr>
          <p:cNvSpPr>
            <a:spLocks noGrp="1"/>
          </p:cNvSpPr>
          <p:nvPr/>
        </p:nvSpPr>
        <p:spPr>
          <a:xfrm>
            <a:off x="5267325" y="61150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pic>
        <p:nvPicPr>
          <p:cNvPr id="125" name="Graphique 124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571500" y="6477000"/>
            <a:ext cx="200025" cy="20002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F80098B-2F57-4E57-9058-245FC4FDB95C}"/>
              </a:ext>
            </a:extLst>
          </p:cNvPr>
          <p:cNvSpPr>
            <a:spLocks noGrp="1"/>
          </p:cNvSpPr>
          <p:nvPr/>
        </p:nvSpPr>
        <p:spPr>
          <a:xfrm>
            <a:off x="885825" y="64293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Légumes glacés de saison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A63691-A7FF-4EE5-9264-7D1BBD7CEB61}"/>
              </a:ext>
            </a:extLst>
          </p:cNvPr>
          <p:cNvSpPr>
            <a:spLocks noGrp="1"/>
          </p:cNvSpPr>
          <p:nvPr/>
        </p:nvSpPr>
        <p:spPr>
          <a:xfrm>
            <a:off x="5267325" y="64293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E81B64DE-F336-47B9-AC72-097F920AC184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1933575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7536B48-2E5F-4758-A4C6-1A63D1DDE359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0" name="Image 129"/>
          <p:cNvPicPr>
            <a:picLocks noChangeAspect="1"/>
          </p:cNvPicPr>
          <p:nvPr/>
        </p:nvPicPr>
        <p:blipFill>
          <a:blip r:embed="rId23"/>
          <a:srcRect l="3082" r="3082"/>
          <a:stretch>
            <a:fillRect/>
          </a:stretch>
        </p:blipFill>
        <p:spPr>
          <a:xfrm>
            <a:off x="3038475" y="70389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B3B7360E-19EF-4911-8AE4-077AC8D7B72E}"/>
              </a:ext>
            </a:extLst>
          </p:cNvPr>
          <p:cNvSpPr>
            <a:spLocks noGrp="1"/>
          </p:cNvSpPr>
          <p:nvPr/>
        </p:nvSpPr>
        <p:spPr>
          <a:xfrm>
            <a:off x="581025" y="70675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Dessert &amp; gâteau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2A3BF2-6421-4511-8D0B-0454A63029C6}"/>
              </a:ext>
            </a:extLst>
          </p:cNvPr>
          <p:cNvSpPr>
            <a:spLocks noGrp="1"/>
          </p:cNvSpPr>
          <p:nvPr/>
        </p:nvSpPr>
        <p:spPr>
          <a:xfrm>
            <a:off x="581025" y="73914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Pièce montée &amp; douceurs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64B55C44-941A-4EA0-B176-7BDF5E836F2D}"/>
              </a:ext>
            </a:extLst>
          </p:cNvPr>
          <p:cNvSpPr>
            <a:spLocks noGrp="1"/>
          </p:cNvSpPr>
          <p:nvPr/>
        </p:nvSpPr>
        <p:spPr>
          <a:xfrm>
            <a:off x="6010275" y="70389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C54409-A94F-4A25-8C4B-3BB6300B03D5}"/>
              </a:ext>
            </a:extLst>
          </p:cNvPr>
          <p:cNvSpPr>
            <a:spLocks noGrp="1"/>
          </p:cNvSpPr>
          <p:nvPr/>
        </p:nvSpPr>
        <p:spPr>
          <a:xfrm>
            <a:off x="6076950" y="70866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4F04BDF-3349-4292-8F49-5DF433E6F4FA}"/>
              </a:ext>
            </a:extLst>
          </p:cNvPr>
          <p:cNvSpPr>
            <a:spLocks noGrp="1"/>
          </p:cNvSpPr>
          <p:nvPr/>
        </p:nvSpPr>
        <p:spPr>
          <a:xfrm>
            <a:off x="6048375" y="7267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2 600 €</a:t>
            </a:r>
          </a:p>
        </p:txBody>
      </p:sp>
      <p:pic>
        <p:nvPicPr>
          <p:cNvPr id="136" name="Graphique 135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571500" y="7924800"/>
            <a:ext cx="200025" cy="2000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54677458-BE6E-42A3-B0F0-5126B752E6AD}"/>
              </a:ext>
            </a:extLst>
          </p:cNvPr>
          <p:cNvSpPr>
            <a:spLocks noGrp="1"/>
          </p:cNvSpPr>
          <p:nvPr/>
        </p:nvSpPr>
        <p:spPr>
          <a:xfrm>
            <a:off x="885825" y="78771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Pièce montée vanille &amp; fruits rouges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271C78E-603F-4BB3-B70D-991AA4B00D94}"/>
              </a:ext>
            </a:extLst>
          </p:cNvPr>
          <p:cNvSpPr>
            <a:spLocks noGrp="1"/>
          </p:cNvSpPr>
          <p:nvPr/>
        </p:nvSpPr>
        <p:spPr>
          <a:xfrm>
            <a:off x="5267325" y="78771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pic>
        <p:nvPicPr>
          <p:cNvPr id="139" name="Graphique 138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571500" y="8239125"/>
            <a:ext cx="200025" cy="20002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60A18070-7E5D-4BBD-A9BD-0992B41423F8}"/>
              </a:ext>
            </a:extLst>
          </p:cNvPr>
          <p:cNvSpPr>
            <a:spLocks noGrp="1"/>
          </p:cNvSpPr>
          <p:nvPr/>
        </p:nvSpPr>
        <p:spPr>
          <a:xfrm>
            <a:off x="885825" y="81915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Mignardises assorties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50CB08-1C23-4650-B52F-E90048470B05}"/>
              </a:ext>
            </a:extLst>
          </p:cNvPr>
          <p:cNvSpPr>
            <a:spLocks noGrp="1"/>
          </p:cNvSpPr>
          <p:nvPr/>
        </p:nvSpPr>
        <p:spPr>
          <a:xfrm>
            <a:off x="5267325" y="81915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pic>
        <p:nvPicPr>
          <p:cNvPr id="142" name="Graphique 141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>
            <a:off x="571500" y="8553450"/>
            <a:ext cx="200025" cy="20002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65A69062-E053-4EAB-BB39-DC1296472215}"/>
              </a:ext>
            </a:extLst>
          </p:cNvPr>
          <p:cNvSpPr>
            <a:spLocks noGrp="1"/>
          </p:cNvSpPr>
          <p:nvPr/>
        </p:nvSpPr>
        <p:spPr>
          <a:xfrm>
            <a:off x="885825" y="85058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Café &amp; infusions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96A200-CCA7-4525-A952-70D0E74B6477}"/>
              </a:ext>
            </a:extLst>
          </p:cNvPr>
          <p:cNvSpPr>
            <a:spLocks noGrp="1"/>
          </p:cNvSpPr>
          <p:nvPr/>
        </p:nvSpPr>
        <p:spPr>
          <a:xfrm>
            <a:off x="5267325" y="85058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03995EB9-0574-439B-BD95-699B42CC1653}"/>
              </a:ext>
            </a:extLst>
          </p:cNvPr>
          <p:cNvSpPr>
            <a:spLocks noGrp="1"/>
          </p:cNvSpPr>
          <p:nvPr/>
        </p:nvSpPr>
        <p:spPr>
          <a:xfrm>
            <a:off x="409575" y="9115425"/>
            <a:ext cx="6743700" cy="457200"/>
          </a:xfrm>
          <a:prstGeom prst="roundRect">
            <a:avLst>
              <a:gd name="adj" fmla="val 3541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E88AA5-E1BC-4C72-BD73-4A24D4EE5A4B}"/>
              </a:ext>
            </a:extLst>
          </p:cNvPr>
          <p:cNvSpPr>
            <a:spLocks noGrp="1"/>
          </p:cNvSpPr>
          <p:nvPr/>
        </p:nvSpPr>
        <p:spPr>
          <a:xfrm>
            <a:off x="619125" y="911542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SOUS-TOTAL MARIAGE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EB8B540-8F8A-4AC3-9347-394140F7B726}"/>
              </a:ext>
            </a:extLst>
          </p:cNvPr>
          <p:cNvSpPr>
            <a:spLocks noGrp="1"/>
          </p:cNvSpPr>
          <p:nvPr/>
        </p:nvSpPr>
        <p:spPr>
          <a:xfrm>
            <a:off x="4619625" y="9115425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12 000 €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90248934-CEFC-44C2-A0FC-D513BD2A8254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pic>
        <p:nvPicPr>
          <p:cNvPr id="12" name="Image 1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9311F179-6C1F-DA00-017F-62CBA6A801A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BE3CCD6F-CCBF-4D0E-A92A-DEC7A34745FE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2B127-4445-4C57-AA94-BA7E8E33D52F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247994-D5A1-4542-A20D-E3196613765D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0F2C9B-ED8E-482D-8D13-8817EF434EAC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ANNIVERSAIRE</a:t>
            </a:r>
          </a:p>
        </p:txBody>
      </p:sp>
      <p:pic>
        <p:nvPicPr>
          <p:cNvPr id="80" name="Graphiqu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52525" y="1809750"/>
            <a:ext cx="180975" cy="180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4A6BD7-8A23-4868-9325-A7F886757DB3}"/>
              </a:ext>
            </a:extLst>
          </p:cNvPr>
          <p:cNvSpPr>
            <a:spLocks noGrp="1"/>
          </p:cNvSpPr>
          <p:nvPr/>
        </p:nvSpPr>
        <p:spPr>
          <a:xfrm>
            <a:off x="1409700" y="1762125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D84CCB0F-41FA-4D1A-8DDD-4B4DA4A84BAA}"/>
              </a:ext>
            </a:extLst>
          </p:cNvPr>
          <p:cNvSpPr>
            <a:spLocks noGrp="1"/>
          </p:cNvSpPr>
          <p:nvPr/>
        </p:nvSpPr>
        <p:spPr>
          <a:xfrm>
            <a:off x="27527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3" name="Graphique 8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867025" y="1809750"/>
            <a:ext cx="180975" cy="180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03BC1B-E6CB-48AC-A7D2-DDD58A98E1C7}"/>
              </a:ext>
            </a:extLst>
          </p:cNvPr>
          <p:cNvSpPr>
            <a:spLocks noGrp="1"/>
          </p:cNvSpPr>
          <p:nvPr/>
        </p:nvSpPr>
        <p:spPr>
          <a:xfrm>
            <a:off x="3124200" y="1762125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15 juin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2558F5C4-306E-449E-AA96-10AB1D22BCDA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6" name="Graphique 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62525" y="1809750"/>
            <a:ext cx="180975" cy="180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68B7290-64CA-4B81-BF70-A0060C87FF32}"/>
              </a:ext>
            </a:extLst>
          </p:cNvPr>
          <p:cNvSpPr>
            <a:spLocks noGrp="1"/>
          </p:cNvSpPr>
          <p:nvPr/>
        </p:nvSpPr>
        <p:spPr>
          <a:xfrm>
            <a:off x="5219700" y="1762125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22CBB27-484C-4B61-9BF0-446B0FA0F671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EB69291-3A12-4695-9CD3-BE9119594020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0" name="Image 89"/>
          <p:cNvPicPr>
            <a:picLocks noChangeAspect="1"/>
          </p:cNvPicPr>
          <p:nvPr/>
        </p:nvPicPr>
        <p:blipFill>
          <a:blip r:embed="rId9"/>
          <a:srcRect l="3082" r="3082"/>
          <a:stretch>
            <a:fillRect/>
          </a:stretch>
        </p:blipFill>
        <p:spPr>
          <a:xfrm>
            <a:off x="3038475" y="225742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A0E5BFD-FBE2-4D26-B045-2960B2869922}"/>
              </a:ext>
            </a:extLst>
          </p:cNvPr>
          <p:cNvSpPr>
            <a:spLocks noGrp="1"/>
          </p:cNvSpPr>
          <p:nvPr/>
        </p:nvSpPr>
        <p:spPr>
          <a:xfrm>
            <a:off x="581025" y="22860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Cocktail d’accueil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A46FF-2A9D-4052-8004-707433EE6268}"/>
              </a:ext>
            </a:extLst>
          </p:cNvPr>
          <p:cNvSpPr>
            <a:spLocks noGrp="1"/>
          </p:cNvSpPr>
          <p:nvPr/>
        </p:nvSpPr>
        <p:spPr>
          <a:xfrm>
            <a:off x="581025" y="26098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Cocktails conviviaux et rafraîchissements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FA764D8-B78C-4D36-A282-2D7602932448}"/>
              </a:ext>
            </a:extLst>
          </p:cNvPr>
          <p:cNvSpPr>
            <a:spLocks noGrp="1"/>
          </p:cNvSpPr>
          <p:nvPr/>
        </p:nvSpPr>
        <p:spPr>
          <a:xfrm>
            <a:off x="6010275" y="225742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0CD42-B57D-4105-B06C-DE9CCA81EBB6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831F6-5458-447D-8663-39EC82DD6791}"/>
              </a:ext>
            </a:extLst>
          </p:cNvPr>
          <p:cNvSpPr>
            <a:spLocks noGrp="1"/>
          </p:cNvSpPr>
          <p:nvPr/>
        </p:nvSpPr>
        <p:spPr>
          <a:xfrm>
            <a:off x="6048375" y="24860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1 200 €</a:t>
            </a:r>
          </a:p>
        </p:txBody>
      </p:sp>
      <p:pic>
        <p:nvPicPr>
          <p:cNvPr id="96" name="Graphique 9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143250"/>
            <a:ext cx="200025" cy="2000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BEC145E-9EA4-472B-9A2F-E2B1EB57DAA9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Brochettes de poulet yakitori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EA7770-4FCA-4B43-8F95-3FE4C0B1BC4D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convives</a:t>
            </a:r>
          </a:p>
        </p:txBody>
      </p:sp>
      <p:pic>
        <p:nvPicPr>
          <p:cNvPr id="99" name="Graphique 98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457575"/>
            <a:ext cx="200025" cy="2000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C314CB4-FF68-4959-97BE-BC10AD2908C1}"/>
              </a:ext>
            </a:extLst>
          </p:cNvPr>
          <p:cNvSpPr>
            <a:spLocks noGrp="1"/>
          </p:cNvSpPr>
          <p:nvPr/>
        </p:nvSpPr>
        <p:spPr>
          <a:xfrm>
            <a:off x="885825" y="34099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quiches assorties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8EB18A-2DFB-40FB-BE67-06F7FC76070A}"/>
              </a:ext>
            </a:extLst>
          </p:cNvPr>
          <p:cNvSpPr>
            <a:spLocks noGrp="1"/>
          </p:cNvSpPr>
          <p:nvPr/>
        </p:nvSpPr>
        <p:spPr>
          <a:xfrm>
            <a:off x="5267325" y="34099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convives</a:t>
            </a:r>
          </a:p>
        </p:txBody>
      </p:sp>
      <p:pic>
        <p:nvPicPr>
          <p:cNvPr id="102" name="Graphique 10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3771900"/>
            <a:ext cx="200025" cy="2000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B8610B8-CB8B-453A-90DC-ABB209E3CDAF}"/>
              </a:ext>
            </a:extLst>
          </p:cNvPr>
          <p:cNvSpPr>
            <a:spLocks noGrp="1"/>
          </p:cNvSpPr>
          <p:nvPr/>
        </p:nvSpPr>
        <p:spPr>
          <a:xfrm>
            <a:off x="885825" y="37242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Verrines avocat-crevettes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110A04-EEE8-4498-B964-AD95214BD03D}"/>
              </a:ext>
            </a:extLst>
          </p:cNvPr>
          <p:cNvSpPr>
            <a:spLocks noGrp="1"/>
          </p:cNvSpPr>
          <p:nvPr/>
        </p:nvSpPr>
        <p:spPr>
          <a:xfrm>
            <a:off x="5267325" y="37242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convives</a:t>
            </a:r>
          </a:p>
        </p:txBody>
      </p:sp>
      <p:pic>
        <p:nvPicPr>
          <p:cNvPr id="105" name="Graphique 104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571500" y="4086225"/>
            <a:ext cx="200025" cy="2000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1ABA5F4-A72D-4D94-9D09-8C12C99CAB5B}"/>
              </a:ext>
            </a:extLst>
          </p:cNvPr>
          <p:cNvSpPr>
            <a:spLocks noGrp="1"/>
          </p:cNvSpPr>
          <p:nvPr/>
        </p:nvSpPr>
        <p:spPr>
          <a:xfrm>
            <a:off x="885825" y="40386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Cocktails sans alcool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AF43E2-F562-425E-8AC3-2BA67A1F8C28}"/>
              </a:ext>
            </a:extLst>
          </p:cNvPr>
          <p:cNvSpPr>
            <a:spLocks noGrp="1"/>
          </p:cNvSpPr>
          <p:nvPr/>
        </p:nvSpPr>
        <p:spPr>
          <a:xfrm>
            <a:off x="5267325" y="40386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F3D220FF-C9F0-45A2-BD3C-F2DB53DA2B91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82912C3C-7364-442A-922B-A3BA63E1541D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0" name="Image 109"/>
          <p:cNvPicPr>
            <a:picLocks noChangeAspect="1"/>
          </p:cNvPicPr>
          <p:nvPr/>
        </p:nvPicPr>
        <p:blipFill>
          <a:blip r:embed="rId18"/>
          <a:srcRect l="3082" r="3082"/>
          <a:stretch>
            <a:fillRect/>
          </a:stretch>
        </p:blipFill>
        <p:spPr>
          <a:xfrm>
            <a:off x="3038475" y="4648200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8C7CD39-D8D3-49C6-A7D5-23605349B30E}"/>
              </a:ext>
            </a:extLst>
          </p:cNvPr>
          <p:cNvSpPr>
            <a:spLocks noGrp="1"/>
          </p:cNvSpPr>
          <p:nvPr/>
        </p:nvSpPr>
        <p:spPr>
          <a:xfrm>
            <a:off x="581025" y="4676775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Buffet festif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EDB6D8-8904-4048-BC4F-B869141991E0}"/>
              </a:ext>
            </a:extLst>
          </p:cNvPr>
          <p:cNvSpPr>
            <a:spLocks noGrp="1"/>
          </p:cNvSpPr>
          <p:nvPr/>
        </p:nvSpPr>
        <p:spPr>
          <a:xfrm>
            <a:off x="581025" y="5000625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Plats chauds &amp; accompagnements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679B6D66-7A4A-4093-90C0-72E21C51B4FC}"/>
              </a:ext>
            </a:extLst>
          </p:cNvPr>
          <p:cNvSpPr>
            <a:spLocks noGrp="1"/>
          </p:cNvSpPr>
          <p:nvPr/>
        </p:nvSpPr>
        <p:spPr>
          <a:xfrm>
            <a:off x="6010275" y="4648200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A08CC9-050F-4F89-A299-11D1CB2DFAE8}"/>
              </a:ext>
            </a:extLst>
          </p:cNvPr>
          <p:cNvSpPr>
            <a:spLocks noGrp="1"/>
          </p:cNvSpPr>
          <p:nvPr/>
        </p:nvSpPr>
        <p:spPr>
          <a:xfrm>
            <a:off x="6076950" y="4695825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5D5F38-E394-4056-9D97-0B785DD6C4F6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3 200 €</a:t>
            </a:r>
          </a:p>
        </p:txBody>
      </p:sp>
      <p:pic>
        <p:nvPicPr>
          <p:cNvPr id="116" name="Graphique 11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5534025"/>
            <a:ext cx="200025" cy="20002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0E20396-D7EC-4F4C-B592-E545EC214D66}"/>
              </a:ext>
            </a:extLst>
          </p:cNvPr>
          <p:cNvSpPr>
            <a:spLocks noGrp="1"/>
          </p:cNvSpPr>
          <p:nvPr/>
        </p:nvSpPr>
        <p:spPr>
          <a:xfrm>
            <a:off x="885825" y="54864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Jollof rice au poulet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AD08A4-2EA4-4C81-BA58-6EAE3B92B19A}"/>
              </a:ext>
            </a:extLst>
          </p:cNvPr>
          <p:cNvSpPr>
            <a:spLocks noGrp="1"/>
          </p:cNvSpPr>
          <p:nvPr/>
        </p:nvSpPr>
        <p:spPr>
          <a:xfrm>
            <a:off x="5267325" y="54864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19" name="Graphique 11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5848350"/>
            <a:ext cx="200025" cy="20002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5CE2435-E765-49F7-AE7B-AC782019A393}"/>
              </a:ext>
            </a:extLst>
          </p:cNvPr>
          <p:cNvSpPr>
            <a:spLocks noGrp="1"/>
          </p:cNvSpPr>
          <p:nvPr/>
        </p:nvSpPr>
        <p:spPr>
          <a:xfrm>
            <a:off x="885825" y="58007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Mafé de bœuf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B43CBA-C9F5-469A-A3EF-9E6055BFEEF6}"/>
              </a:ext>
            </a:extLst>
          </p:cNvPr>
          <p:cNvSpPr>
            <a:spLocks noGrp="1"/>
          </p:cNvSpPr>
          <p:nvPr/>
        </p:nvSpPr>
        <p:spPr>
          <a:xfrm>
            <a:off x="5267325" y="58007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22" name="Graphique 121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571500" y="6162675"/>
            <a:ext cx="200025" cy="20002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A3C991DF-4331-4F71-BBC6-A4E9E5FD8AF0}"/>
              </a:ext>
            </a:extLst>
          </p:cNvPr>
          <p:cNvSpPr>
            <a:spLocks noGrp="1"/>
          </p:cNvSpPr>
          <p:nvPr/>
        </p:nvSpPr>
        <p:spPr>
          <a:xfrm>
            <a:off x="885825" y="61150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Attiéké &amp; poisson braisé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57DF82-F8A1-42C9-8462-A94BA0F6E3AA}"/>
              </a:ext>
            </a:extLst>
          </p:cNvPr>
          <p:cNvSpPr>
            <a:spLocks noGrp="1"/>
          </p:cNvSpPr>
          <p:nvPr/>
        </p:nvSpPr>
        <p:spPr>
          <a:xfrm>
            <a:off x="5267325" y="61150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25" name="Graphique 124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6477000"/>
            <a:ext cx="200025" cy="20002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7FD08CC-1AC3-4ADA-8DD8-A45AECCAB0F7}"/>
              </a:ext>
            </a:extLst>
          </p:cNvPr>
          <p:cNvSpPr>
            <a:spLocks noGrp="1"/>
          </p:cNvSpPr>
          <p:nvPr/>
        </p:nvSpPr>
        <p:spPr>
          <a:xfrm>
            <a:off x="885825" y="64293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Salade fraîcheur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494A91-0EB0-4942-A375-210A07F77C1B}"/>
              </a:ext>
            </a:extLst>
          </p:cNvPr>
          <p:cNvSpPr>
            <a:spLocks noGrp="1"/>
          </p:cNvSpPr>
          <p:nvPr/>
        </p:nvSpPr>
        <p:spPr>
          <a:xfrm>
            <a:off x="5267325" y="64293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748E04FF-EA81-4C0D-B585-15631FA4CF8F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1933575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DB265EE9-8390-4F4D-8075-AC28A87F0933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0" name="Image 129"/>
          <p:cNvPicPr>
            <a:picLocks noChangeAspect="1"/>
          </p:cNvPicPr>
          <p:nvPr/>
        </p:nvPicPr>
        <p:blipFill>
          <a:blip r:embed="rId21"/>
          <a:srcRect l="3082" r="3082"/>
          <a:stretch>
            <a:fillRect/>
          </a:stretch>
        </p:blipFill>
        <p:spPr>
          <a:xfrm>
            <a:off x="3038475" y="70389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6064D0DF-6946-4FAE-96EE-E0D7D59E06A3}"/>
              </a:ext>
            </a:extLst>
          </p:cNvPr>
          <p:cNvSpPr>
            <a:spLocks noGrp="1"/>
          </p:cNvSpPr>
          <p:nvPr/>
        </p:nvSpPr>
        <p:spPr>
          <a:xfrm>
            <a:off x="581025" y="70675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Gâteau &amp; douceurs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FB192B-B6D2-4654-A897-B7FBFEF03DB9}"/>
              </a:ext>
            </a:extLst>
          </p:cNvPr>
          <p:cNvSpPr>
            <a:spLocks noGrp="1"/>
          </p:cNvSpPr>
          <p:nvPr/>
        </p:nvSpPr>
        <p:spPr>
          <a:xfrm>
            <a:off x="581025" y="73914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Gâteau d’anniversaire et mignardises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63862DE2-392B-4007-A613-B230C161127F}"/>
              </a:ext>
            </a:extLst>
          </p:cNvPr>
          <p:cNvSpPr>
            <a:spLocks noGrp="1"/>
          </p:cNvSpPr>
          <p:nvPr/>
        </p:nvSpPr>
        <p:spPr>
          <a:xfrm>
            <a:off x="6010275" y="70389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728977D-B01D-45A2-BAE4-4A1B87878AFE}"/>
              </a:ext>
            </a:extLst>
          </p:cNvPr>
          <p:cNvSpPr>
            <a:spLocks noGrp="1"/>
          </p:cNvSpPr>
          <p:nvPr/>
        </p:nvSpPr>
        <p:spPr>
          <a:xfrm>
            <a:off x="6076950" y="70866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B89475B-CE1E-484A-A0A0-5E69F2319143}"/>
              </a:ext>
            </a:extLst>
          </p:cNvPr>
          <p:cNvSpPr>
            <a:spLocks noGrp="1"/>
          </p:cNvSpPr>
          <p:nvPr/>
        </p:nvSpPr>
        <p:spPr>
          <a:xfrm>
            <a:off x="6048375" y="7267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1 300 €</a:t>
            </a:r>
          </a:p>
        </p:txBody>
      </p:sp>
      <p:pic>
        <p:nvPicPr>
          <p:cNvPr id="136" name="Graphique 135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7924800"/>
            <a:ext cx="200025" cy="2000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E49A6FB5-17C2-458D-AF5E-5D8889815EF3}"/>
              </a:ext>
            </a:extLst>
          </p:cNvPr>
          <p:cNvSpPr>
            <a:spLocks noGrp="1"/>
          </p:cNvSpPr>
          <p:nvPr/>
        </p:nvSpPr>
        <p:spPr>
          <a:xfrm>
            <a:off x="885825" y="78771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Gâteau d’anniversaire personnalisé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5FF208E-8103-429F-B51A-DC3C6A6B6DDA}"/>
              </a:ext>
            </a:extLst>
          </p:cNvPr>
          <p:cNvSpPr>
            <a:spLocks noGrp="1"/>
          </p:cNvSpPr>
          <p:nvPr/>
        </p:nvSpPr>
        <p:spPr>
          <a:xfrm>
            <a:off x="5267325" y="78771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39" name="Graphique 138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8239125"/>
            <a:ext cx="200025" cy="20002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CF1FC82D-A4C7-47A1-A60B-D723AFDCD319}"/>
              </a:ext>
            </a:extLst>
          </p:cNvPr>
          <p:cNvSpPr>
            <a:spLocks noGrp="1"/>
          </p:cNvSpPr>
          <p:nvPr/>
        </p:nvSpPr>
        <p:spPr>
          <a:xfrm>
            <a:off x="885825" y="81915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pâtisseries assorties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03DDED-6646-42F7-886E-4BFFEE95A1DD}"/>
              </a:ext>
            </a:extLst>
          </p:cNvPr>
          <p:cNvSpPr>
            <a:spLocks noGrp="1"/>
          </p:cNvSpPr>
          <p:nvPr/>
        </p:nvSpPr>
        <p:spPr>
          <a:xfrm>
            <a:off x="5267325" y="81915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42" name="Graphique 141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571500" y="8553450"/>
            <a:ext cx="200025" cy="20002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00A98672-6247-4E1A-8F8B-C976207277A3}"/>
              </a:ext>
            </a:extLst>
          </p:cNvPr>
          <p:cNvSpPr>
            <a:spLocks noGrp="1"/>
          </p:cNvSpPr>
          <p:nvPr/>
        </p:nvSpPr>
        <p:spPr>
          <a:xfrm>
            <a:off x="885825" y="85058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Jus naturels &amp; eaux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197D263-7345-44AE-A387-2ADF0EAD30BB}"/>
              </a:ext>
            </a:extLst>
          </p:cNvPr>
          <p:cNvSpPr>
            <a:spLocks noGrp="1"/>
          </p:cNvSpPr>
          <p:nvPr/>
        </p:nvSpPr>
        <p:spPr>
          <a:xfrm>
            <a:off x="5267325" y="85058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8227E09E-2CFE-4A52-9259-FD23AF4DE8FD}"/>
              </a:ext>
            </a:extLst>
          </p:cNvPr>
          <p:cNvSpPr>
            <a:spLocks noGrp="1"/>
          </p:cNvSpPr>
          <p:nvPr/>
        </p:nvSpPr>
        <p:spPr>
          <a:xfrm>
            <a:off x="409575" y="9115425"/>
            <a:ext cx="6743700" cy="457200"/>
          </a:xfrm>
          <a:prstGeom prst="roundRect">
            <a:avLst>
              <a:gd name="adj" fmla="val 3541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C243A5D-9CDE-41E2-B9A4-F9D5FCB5A9AA}"/>
              </a:ext>
            </a:extLst>
          </p:cNvPr>
          <p:cNvSpPr>
            <a:spLocks noGrp="1"/>
          </p:cNvSpPr>
          <p:nvPr/>
        </p:nvSpPr>
        <p:spPr>
          <a:xfrm>
            <a:off x="619125" y="911542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SOUS-TOTAL ANNIVERSAIRE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6A46D-875A-48B6-9C8E-FF66ACDEBDCF}"/>
              </a:ext>
            </a:extLst>
          </p:cNvPr>
          <p:cNvSpPr>
            <a:spLocks noGrp="1"/>
          </p:cNvSpPr>
          <p:nvPr/>
        </p:nvSpPr>
        <p:spPr>
          <a:xfrm>
            <a:off x="4619625" y="9115425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5 700 €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7B3FBDC3-7BCA-46C5-8433-CDF9BA211D0E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CB232C32-D311-B391-A01A-AE3D6C2ECF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6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142EC310-BD07-4EB0-B7E6-ED86F0571CCA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A19E3F-1CDF-4F7F-807E-3508EF297796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EEB5FC-7BC2-4F75-9FB4-4CA5BA7636BB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E0B80-1CFB-4F18-A378-C76C2FE8E195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BABY SHOWER</a:t>
            </a:r>
          </a:p>
        </p:txBody>
      </p:sp>
      <p:pic>
        <p:nvPicPr>
          <p:cNvPr id="83" name="Graphiqu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52525" y="1809750"/>
            <a:ext cx="180975" cy="180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F9B280-592D-46F7-A073-323AF771946A}"/>
              </a:ext>
            </a:extLst>
          </p:cNvPr>
          <p:cNvSpPr>
            <a:spLocks noGrp="1"/>
          </p:cNvSpPr>
          <p:nvPr/>
        </p:nvSpPr>
        <p:spPr>
          <a:xfrm>
            <a:off x="1409700" y="1762125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7203D034-DA9E-452B-BABD-37E8FD69FB8F}"/>
              </a:ext>
            </a:extLst>
          </p:cNvPr>
          <p:cNvSpPr>
            <a:spLocks noGrp="1"/>
          </p:cNvSpPr>
          <p:nvPr/>
        </p:nvSpPr>
        <p:spPr>
          <a:xfrm>
            <a:off x="27527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6" name="Graphique 8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867025" y="1809750"/>
            <a:ext cx="180975" cy="180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BAA6FC2-DAC1-4582-A4AC-AE22AA27FC0B}"/>
              </a:ext>
            </a:extLst>
          </p:cNvPr>
          <p:cNvSpPr>
            <a:spLocks noGrp="1"/>
          </p:cNvSpPr>
          <p:nvPr/>
        </p:nvSpPr>
        <p:spPr>
          <a:xfrm>
            <a:off x="3124200" y="1762125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20 juillet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11E81993-C38B-4F25-A20F-F6A53ADD425E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9" name="Graphique 8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62525" y="1809750"/>
            <a:ext cx="180975" cy="180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205436-E03A-457F-B7EC-F3A1DC41E73C}"/>
              </a:ext>
            </a:extLst>
          </p:cNvPr>
          <p:cNvSpPr>
            <a:spLocks noGrp="1"/>
          </p:cNvSpPr>
          <p:nvPr/>
        </p:nvSpPr>
        <p:spPr>
          <a:xfrm>
            <a:off x="5219700" y="1762125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7FB0A87-C5E6-4D4D-9C1B-CF1F90717C0B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8FF3115-7832-42D0-AA98-24AC3D6DB1C6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3" name="Image 92"/>
          <p:cNvPicPr>
            <a:picLocks noChangeAspect="1"/>
          </p:cNvPicPr>
          <p:nvPr/>
        </p:nvPicPr>
        <p:blipFill>
          <a:blip r:embed="rId9"/>
          <a:srcRect l="3082" r="3082"/>
          <a:stretch>
            <a:fillRect/>
          </a:stretch>
        </p:blipFill>
        <p:spPr>
          <a:xfrm>
            <a:off x="3038475" y="225742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A27B8D6-3A05-4855-B27B-51D0022360BE}"/>
              </a:ext>
            </a:extLst>
          </p:cNvPr>
          <p:cNvSpPr>
            <a:spLocks noGrp="1"/>
          </p:cNvSpPr>
          <p:nvPr/>
        </p:nvSpPr>
        <p:spPr>
          <a:xfrm>
            <a:off x="581025" y="22860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Accueil gourmand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6B2077-915D-4565-854A-B1A8BFDB20C2}"/>
              </a:ext>
            </a:extLst>
          </p:cNvPr>
          <p:cNvSpPr>
            <a:spLocks noGrp="1"/>
          </p:cNvSpPr>
          <p:nvPr/>
        </p:nvSpPr>
        <p:spPr>
          <a:xfrm>
            <a:off x="581025" y="26098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Douceurs &amp; boissons pour bien commencer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5E30475-41C9-40F5-A749-F4A0CC9BCD9C}"/>
              </a:ext>
            </a:extLst>
          </p:cNvPr>
          <p:cNvSpPr>
            <a:spLocks noGrp="1"/>
          </p:cNvSpPr>
          <p:nvPr/>
        </p:nvSpPr>
        <p:spPr>
          <a:xfrm>
            <a:off x="6010275" y="225742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2DDC2-BE9A-4710-82C8-B5A077731207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2559C9-BD29-47FA-94C1-7D5AD989653E}"/>
              </a:ext>
            </a:extLst>
          </p:cNvPr>
          <p:cNvSpPr>
            <a:spLocks noGrp="1"/>
          </p:cNvSpPr>
          <p:nvPr/>
        </p:nvSpPr>
        <p:spPr>
          <a:xfrm>
            <a:off x="6048375" y="24860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950 €</a:t>
            </a:r>
          </a:p>
        </p:txBody>
      </p:sp>
      <p:pic>
        <p:nvPicPr>
          <p:cNvPr id="99" name="Graphique 9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143250"/>
            <a:ext cx="200025" cy="2000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4BB79EF-E343-455F-8770-4B126F979784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viennoiseries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3830E-8336-4DA5-B73B-B12D5DC0AA6A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20 convives</a:t>
            </a:r>
          </a:p>
        </p:txBody>
      </p:sp>
      <p:pic>
        <p:nvPicPr>
          <p:cNvPr id="102" name="Graphique 10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457575"/>
            <a:ext cx="200025" cy="2000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5854BB6-FA15-4472-A48F-009647B3AAC3}"/>
              </a:ext>
            </a:extLst>
          </p:cNvPr>
          <p:cNvSpPr>
            <a:spLocks noGrp="1"/>
          </p:cNvSpPr>
          <p:nvPr/>
        </p:nvSpPr>
        <p:spPr>
          <a:xfrm>
            <a:off x="885825" y="34099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Brochettes de fruits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3AC470-3874-45F8-952A-FB0C3B16CF57}"/>
              </a:ext>
            </a:extLst>
          </p:cNvPr>
          <p:cNvSpPr>
            <a:spLocks noGrp="1"/>
          </p:cNvSpPr>
          <p:nvPr/>
        </p:nvSpPr>
        <p:spPr>
          <a:xfrm>
            <a:off x="5267325" y="34099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20 convives</a:t>
            </a:r>
          </a:p>
        </p:txBody>
      </p:sp>
      <p:pic>
        <p:nvPicPr>
          <p:cNvPr id="105" name="Graphique 104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771900"/>
            <a:ext cx="200025" cy="2000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AFB661D-87E6-46FC-B361-776ABD99A4B3}"/>
              </a:ext>
            </a:extLst>
          </p:cNvPr>
          <p:cNvSpPr>
            <a:spLocks noGrp="1"/>
          </p:cNvSpPr>
          <p:nvPr/>
        </p:nvSpPr>
        <p:spPr>
          <a:xfrm>
            <a:off x="885825" y="37242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Yaourts &amp; granola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A81788-61AD-4B25-AD2B-15A0A6648235}"/>
              </a:ext>
            </a:extLst>
          </p:cNvPr>
          <p:cNvSpPr>
            <a:spLocks noGrp="1"/>
          </p:cNvSpPr>
          <p:nvPr/>
        </p:nvSpPr>
        <p:spPr>
          <a:xfrm>
            <a:off x="5267325" y="37242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20 convives</a:t>
            </a:r>
          </a:p>
        </p:txBody>
      </p:sp>
      <p:pic>
        <p:nvPicPr>
          <p:cNvPr id="108" name="Graphique 107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4086225"/>
            <a:ext cx="200025" cy="2000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226382C-2EF7-4B87-8BF8-EAEA5648453F}"/>
              </a:ext>
            </a:extLst>
          </p:cNvPr>
          <p:cNvSpPr>
            <a:spLocks noGrp="1"/>
          </p:cNvSpPr>
          <p:nvPr/>
        </p:nvSpPr>
        <p:spPr>
          <a:xfrm>
            <a:off x="885825" y="40386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Jus naturels &amp; infusions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D412B7-1004-4C91-B3D7-C4D4B96DFE1A}"/>
              </a:ext>
            </a:extLst>
          </p:cNvPr>
          <p:cNvSpPr>
            <a:spLocks noGrp="1"/>
          </p:cNvSpPr>
          <p:nvPr/>
        </p:nvSpPr>
        <p:spPr>
          <a:xfrm>
            <a:off x="5267325" y="40386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35A4820-37EF-4BAA-8127-62C4BF9B974E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C65B644-5646-47B0-92A7-1D4F712D2B39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3" name="Image 112"/>
          <p:cNvPicPr>
            <a:picLocks noChangeAspect="1"/>
          </p:cNvPicPr>
          <p:nvPr/>
        </p:nvPicPr>
        <p:blipFill>
          <a:blip r:embed="rId16"/>
          <a:srcRect l="3082" r="3082"/>
          <a:stretch>
            <a:fillRect/>
          </a:stretch>
        </p:blipFill>
        <p:spPr>
          <a:xfrm>
            <a:off x="3038475" y="4648200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84F2E38-0629-437E-8B9F-39282C2A860A}"/>
              </a:ext>
            </a:extLst>
          </p:cNvPr>
          <p:cNvSpPr>
            <a:spLocks noGrp="1"/>
          </p:cNvSpPr>
          <p:nvPr/>
        </p:nvSpPr>
        <p:spPr>
          <a:xfrm>
            <a:off x="581025" y="4676775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Brunch pastel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3D8F68-625B-4358-ACE4-CEC8CD74240F}"/>
              </a:ext>
            </a:extLst>
          </p:cNvPr>
          <p:cNvSpPr>
            <a:spLocks noGrp="1"/>
          </p:cNvSpPr>
          <p:nvPr/>
        </p:nvSpPr>
        <p:spPr>
          <a:xfrm>
            <a:off x="581025" y="5000625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Saveurs douces et colorées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2D968CA7-BF4F-4AB2-8761-81224121CA11}"/>
              </a:ext>
            </a:extLst>
          </p:cNvPr>
          <p:cNvSpPr>
            <a:spLocks noGrp="1"/>
          </p:cNvSpPr>
          <p:nvPr/>
        </p:nvSpPr>
        <p:spPr>
          <a:xfrm>
            <a:off x="6010275" y="4648200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E68923-B7CD-4F10-892D-D6EF92D39907}"/>
              </a:ext>
            </a:extLst>
          </p:cNvPr>
          <p:cNvSpPr>
            <a:spLocks noGrp="1"/>
          </p:cNvSpPr>
          <p:nvPr/>
        </p:nvSpPr>
        <p:spPr>
          <a:xfrm>
            <a:off x="6076950" y="4695825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E041AC-0A9E-417A-B44E-DE4BA9A45DE5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2 000 €</a:t>
            </a:r>
          </a:p>
        </p:txBody>
      </p:sp>
      <p:pic>
        <p:nvPicPr>
          <p:cNvPr id="119" name="Graphique 118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571500" y="5534025"/>
            <a:ext cx="200025" cy="20002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6154130-30FA-466D-BC60-B9469B420C0F}"/>
              </a:ext>
            </a:extLst>
          </p:cNvPr>
          <p:cNvSpPr>
            <a:spLocks noGrp="1"/>
          </p:cNvSpPr>
          <p:nvPr/>
        </p:nvSpPr>
        <p:spPr>
          <a:xfrm>
            <a:off x="885825" y="54864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Œufs brouillés aux herbes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B4C502-4285-4B56-ACE5-0CC6689B2B56}"/>
              </a:ext>
            </a:extLst>
          </p:cNvPr>
          <p:cNvSpPr>
            <a:spLocks noGrp="1"/>
          </p:cNvSpPr>
          <p:nvPr/>
        </p:nvSpPr>
        <p:spPr>
          <a:xfrm>
            <a:off x="5267325" y="54864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22" name="Graphique 121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5848350"/>
            <a:ext cx="200025" cy="20002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8CC4DAF-66BB-46CD-B405-ACAFBB7FF143}"/>
              </a:ext>
            </a:extLst>
          </p:cNvPr>
          <p:cNvSpPr>
            <a:spLocks noGrp="1"/>
          </p:cNvSpPr>
          <p:nvPr/>
        </p:nvSpPr>
        <p:spPr>
          <a:xfrm>
            <a:off x="885825" y="58007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Pancakes &amp; sirop d’érable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D6C6BD-472B-4637-8B57-9660C45B2900}"/>
              </a:ext>
            </a:extLst>
          </p:cNvPr>
          <p:cNvSpPr>
            <a:spLocks noGrp="1"/>
          </p:cNvSpPr>
          <p:nvPr/>
        </p:nvSpPr>
        <p:spPr>
          <a:xfrm>
            <a:off x="5267325" y="58007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25" name="Graphique 124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6162675"/>
            <a:ext cx="200025" cy="20002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AA141C4D-B65F-4142-A3B5-288268BA6ADD}"/>
              </a:ext>
            </a:extLst>
          </p:cNvPr>
          <p:cNvSpPr>
            <a:spLocks noGrp="1"/>
          </p:cNvSpPr>
          <p:nvPr/>
        </p:nvSpPr>
        <p:spPr>
          <a:xfrm>
            <a:off x="885825" y="61150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Salade de fruits exotiques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7322F8-04DE-4258-B768-EC6BD5955643}"/>
              </a:ext>
            </a:extLst>
          </p:cNvPr>
          <p:cNvSpPr>
            <a:spLocks noGrp="1"/>
          </p:cNvSpPr>
          <p:nvPr/>
        </p:nvSpPr>
        <p:spPr>
          <a:xfrm>
            <a:off x="5267325" y="61150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28" name="Graphique 12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571500" y="6477000"/>
            <a:ext cx="200025" cy="20002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100CD3B-71D6-47D8-A25C-376BBB755B75}"/>
              </a:ext>
            </a:extLst>
          </p:cNvPr>
          <p:cNvSpPr>
            <a:spLocks noGrp="1"/>
          </p:cNvSpPr>
          <p:nvPr/>
        </p:nvSpPr>
        <p:spPr>
          <a:xfrm>
            <a:off x="885825" y="64293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wraps au poulet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8358E8-02E4-48B4-A01E-18BCE56F4001}"/>
              </a:ext>
            </a:extLst>
          </p:cNvPr>
          <p:cNvSpPr>
            <a:spLocks noGrp="1"/>
          </p:cNvSpPr>
          <p:nvPr/>
        </p:nvSpPr>
        <p:spPr>
          <a:xfrm>
            <a:off x="5267325" y="64293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EC399571-9EA6-4C3E-BE1B-5FC91D64FC1B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A4329522-88FE-464F-8E9C-BE71F2442505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3" name="Image 132"/>
          <p:cNvPicPr>
            <a:picLocks noChangeAspect="1"/>
          </p:cNvPicPr>
          <p:nvPr/>
        </p:nvPicPr>
        <p:blipFill>
          <a:blip r:embed="rId21"/>
          <a:srcRect l="3082" r="3082"/>
          <a:stretch>
            <a:fillRect/>
          </a:stretch>
        </p:blipFill>
        <p:spPr>
          <a:xfrm>
            <a:off x="3038475" y="70389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FB1CC5A-AD85-42C2-806F-F06F384B3950}"/>
              </a:ext>
            </a:extLst>
          </p:cNvPr>
          <p:cNvSpPr>
            <a:spLocks noGrp="1"/>
          </p:cNvSpPr>
          <p:nvPr/>
        </p:nvSpPr>
        <p:spPr>
          <a:xfrm>
            <a:off x="581025" y="70675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Sweet table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01A5D9B-6D03-47B9-8D5D-60F74A61A2F7}"/>
              </a:ext>
            </a:extLst>
          </p:cNvPr>
          <p:cNvSpPr>
            <a:spLocks noGrp="1"/>
          </p:cNvSpPr>
          <p:nvPr/>
        </p:nvSpPr>
        <p:spPr>
          <a:xfrm>
            <a:off x="581025" y="73914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Gourmandises &amp; mini gâteaux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D993B8A-0A35-4BF0-85C1-68BA679B0940}"/>
              </a:ext>
            </a:extLst>
          </p:cNvPr>
          <p:cNvSpPr>
            <a:spLocks noGrp="1"/>
          </p:cNvSpPr>
          <p:nvPr/>
        </p:nvSpPr>
        <p:spPr>
          <a:xfrm>
            <a:off x="6010275" y="70389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492AF3-C987-467D-90E0-B8B59217ACC3}"/>
              </a:ext>
            </a:extLst>
          </p:cNvPr>
          <p:cNvSpPr>
            <a:spLocks noGrp="1"/>
          </p:cNvSpPr>
          <p:nvPr/>
        </p:nvSpPr>
        <p:spPr>
          <a:xfrm>
            <a:off x="6076950" y="70866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E83FB68-26EA-4AD5-8A09-0DA75220D828}"/>
              </a:ext>
            </a:extLst>
          </p:cNvPr>
          <p:cNvSpPr>
            <a:spLocks noGrp="1"/>
          </p:cNvSpPr>
          <p:nvPr/>
        </p:nvSpPr>
        <p:spPr>
          <a:xfrm>
            <a:off x="6048375" y="7267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1 000 €</a:t>
            </a:r>
          </a:p>
        </p:txBody>
      </p:sp>
      <p:pic>
        <p:nvPicPr>
          <p:cNvPr id="139" name="Graphique 138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7924800"/>
            <a:ext cx="200025" cy="2000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B28EC80A-3256-40FF-BCA5-0359635969E6}"/>
              </a:ext>
            </a:extLst>
          </p:cNvPr>
          <p:cNvSpPr>
            <a:spLocks noGrp="1"/>
          </p:cNvSpPr>
          <p:nvPr/>
        </p:nvSpPr>
        <p:spPr>
          <a:xfrm>
            <a:off x="885825" y="78771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Cupcakes décorés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CD69C6-B5CE-4827-96C6-9240E95AB8FD}"/>
              </a:ext>
            </a:extLst>
          </p:cNvPr>
          <p:cNvSpPr>
            <a:spLocks noGrp="1"/>
          </p:cNvSpPr>
          <p:nvPr/>
        </p:nvSpPr>
        <p:spPr>
          <a:xfrm>
            <a:off x="5267325" y="78771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42" name="Graphique 141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8239125"/>
            <a:ext cx="200025" cy="20002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2ACD72BD-BE0F-4431-AF5C-A7F8A230016D}"/>
              </a:ext>
            </a:extLst>
          </p:cNvPr>
          <p:cNvSpPr>
            <a:spLocks noGrp="1"/>
          </p:cNvSpPr>
          <p:nvPr/>
        </p:nvSpPr>
        <p:spPr>
          <a:xfrm>
            <a:off x="885825" y="81915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Macarons variés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CAD23-6584-4BC9-A2E0-7D4CDD9C7ADD}"/>
              </a:ext>
            </a:extLst>
          </p:cNvPr>
          <p:cNvSpPr>
            <a:spLocks noGrp="1"/>
          </p:cNvSpPr>
          <p:nvPr/>
        </p:nvSpPr>
        <p:spPr>
          <a:xfrm>
            <a:off x="5267325" y="81915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45" name="Graphique 144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8553450"/>
            <a:ext cx="200025" cy="20002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33FBFA9-32B3-4E2F-9132-B4DC07D6A277}"/>
              </a:ext>
            </a:extLst>
          </p:cNvPr>
          <p:cNvSpPr>
            <a:spLocks noGrp="1"/>
          </p:cNvSpPr>
          <p:nvPr/>
        </p:nvSpPr>
        <p:spPr>
          <a:xfrm>
            <a:off x="885825" y="85058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Sucettes chocolatées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A0F655B-50AC-4926-9FFC-8154215A7BF0}"/>
              </a:ext>
            </a:extLst>
          </p:cNvPr>
          <p:cNvSpPr>
            <a:spLocks noGrp="1"/>
          </p:cNvSpPr>
          <p:nvPr/>
        </p:nvSpPr>
        <p:spPr>
          <a:xfrm>
            <a:off x="5267325" y="85058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pic>
        <p:nvPicPr>
          <p:cNvPr id="148" name="Graphique 147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571500" y="8867775"/>
            <a:ext cx="200025" cy="200025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DFC433E4-3EDB-4495-AE4E-08492DB36EF8}"/>
              </a:ext>
            </a:extLst>
          </p:cNvPr>
          <p:cNvSpPr>
            <a:spLocks noGrp="1"/>
          </p:cNvSpPr>
          <p:nvPr/>
        </p:nvSpPr>
        <p:spPr>
          <a:xfrm>
            <a:off x="885825" y="88201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Eau aromatisée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ADF12C-0E07-4BA9-ABE5-802478D8EF4D}"/>
              </a:ext>
            </a:extLst>
          </p:cNvPr>
          <p:cNvSpPr>
            <a:spLocks noGrp="1"/>
          </p:cNvSpPr>
          <p:nvPr/>
        </p:nvSpPr>
        <p:spPr>
          <a:xfrm>
            <a:off x="5267325" y="88201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convives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B38EF267-BBCD-4717-9527-775B5F507540}"/>
              </a:ext>
            </a:extLst>
          </p:cNvPr>
          <p:cNvSpPr>
            <a:spLocks noGrp="1"/>
          </p:cNvSpPr>
          <p:nvPr/>
        </p:nvSpPr>
        <p:spPr>
          <a:xfrm>
            <a:off x="409575" y="9429750"/>
            <a:ext cx="6743700" cy="457200"/>
          </a:xfrm>
          <a:prstGeom prst="roundRect">
            <a:avLst>
              <a:gd name="adj" fmla="val 3541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93E24C-60D8-42FB-86CF-8A53513E4EC0}"/>
              </a:ext>
            </a:extLst>
          </p:cNvPr>
          <p:cNvSpPr>
            <a:spLocks noGrp="1"/>
          </p:cNvSpPr>
          <p:nvPr/>
        </p:nvSpPr>
        <p:spPr>
          <a:xfrm>
            <a:off x="619125" y="94297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SOUS-TOTAL BABY SHOWER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455B2E-D4FB-4FA9-A5EF-0EA5A6FBF981}"/>
              </a:ext>
            </a:extLst>
          </p:cNvPr>
          <p:cNvSpPr>
            <a:spLocks noGrp="1"/>
          </p:cNvSpPr>
          <p:nvPr/>
        </p:nvSpPr>
        <p:spPr>
          <a:xfrm>
            <a:off x="4619625" y="942975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3 950 €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5BFCA37-7F7F-4179-BFE1-7FD8A8BEA32F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917B87DF-81CC-105C-0F13-5CD78BD2B3D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21155A70-A2E2-4411-8270-E0593996D339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6AD9A-2300-4FED-8408-F55219A7B233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525C4-9B68-43CE-887F-6D692517FF37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0804B-7D70-4F45-919B-525892C41453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5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5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SÉMINAIRE D’ENTREPRISE</a:t>
            </a:r>
          </a:p>
        </p:txBody>
      </p:sp>
      <p:pic>
        <p:nvPicPr>
          <p:cNvPr id="80" name="Graphiqu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52525" y="1809750"/>
            <a:ext cx="180975" cy="180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149FAF-B9A3-4DA3-8081-68867EF2E9D0}"/>
              </a:ext>
            </a:extLst>
          </p:cNvPr>
          <p:cNvSpPr>
            <a:spLocks noGrp="1"/>
          </p:cNvSpPr>
          <p:nvPr/>
        </p:nvSpPr>
        <p:spPr>
          <a:xfrm>
            <a:off x="1409700" y="1762125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participants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48745021-3684-4C9C-8318-51F93E9EA4AD}"/>
              </a:ext>
            </a:extLst>
          </p:cNvPr>
          <p:cNvSpPr>
            <a:spLocks noGrp="1"/>
          </p:cNvSpPr>
          <p:nvPr/>
        </p:nvSpPr>
        <p:spPr>
          <a:xfrm>
            <a:off x="27527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3" name="Graphique 8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867025" y="1809750"/>
            <a:ext cx="180975" cy="180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035F08-D6B2-45A6-8806-2913D91E24B5}"/>
              </a:ext>
            </a:extLst>
          </p:cNvPr>
          <p:cNvSpPr>
            <a:spLocks noGrp="1"/>
          </p:cNvSpPr>
          <p:nvPr/>
        </p:nvSpPr>
        <p:spPr>
          <a:xfrm>
            <a:off x="3124200" y="1762125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10 septembre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24FACB80-1676-456D-8C76-A29D22A1C23E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6" name="Graphique 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62525" y="1809750"/>
            <a:ext cx="180975" cy="180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35F0AE-C44E-4BD4-A3A0-DC025AB20B25}"/>
              </a:ext>
            </a:extLst>
          </p:cNvPr>
          <p:cNvSpPr>
            <a:spLocks noGrp="1"/>
          </p:cNvSpPr>
          <p:nvPr/>
        </p:nvSpPr>
        <p:spPr>
          <a:xfrm>
            <a:off x="5219700" y="1762125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DB6B7C9-DD34-4839-9CAD-985C32BC9FBD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1933575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55C84C8-DBDD-4B65-A24B-F13744FA6053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0" name="Image 89"/>
          <p:cNvPicPr>
            <a:picLocks noChangeAspect="1"/>
          </p:cNvPicPr>
          <p:nvPr/>
        </p:nvPicPr>
        <p:blipFill>
          <a:blip r:embed="rId9"/>
          <a:srcRect l="3082" r="3082"/>
          <a:stretch>
            <a:fillRect/>
          </a:stretch>
        </p:blipFill>
        <p:spPr>
          <a:xfrm>
            <a:off x="3038475" y="225742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0C37B0-D279-44A1-B5C9-87C2D7B52F1F}"/>
              </a:ext>
            </a:extLst>
          </p:cNvPr>
          <p:cNvSpPr>
            <a:spLocks noGrp="1"/>
          </p:cNvSpPr>
          <p:nvPr/>
        </p:nvSpPr>
        <p:spPr>
          <a:xfrm>
            <a:off x="581025" y="22860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Pause-café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9D2575-FA02-4A24-A0BB-025918E25A3A}"/>
              </a:ext>
            </a:extLst>
          </p:cNvPr>
          <p:cNvSpPr>
            <a:spLocks noGrp="1"/>
          </p:cNvSpPr>
          <p:nvPr/>
        </p:nvSpPr>
        <p:spPr>
          <a:xfrm>
            <a:off x="581025" y="26098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Café, thé &amp; douceurs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3E47987-D6FC-4FC5-96C8-B34C34DE214D}"/>
              </a:ext>
            </a:extLst>
          </p:cNvPr>
          <p:cNvSpPr>
            <a:spLocks noGrp="1"/>
          </p:cNvSpPr>
          <p:nvPr/>
        </p:nvSpPr>
        <p:spPr>
          <a:xfrm>
            <a:off x="6010275" y="225742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CA68EA-2D9E-43E0-88AA-32D931B06AE0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4FFC8-422F-4EF6-8F58-C4D15EF0069B}"/>
              </a:ext>
            </a:extLst>
          </p:cNvPr>
          <p:cNvSpPr>
            <a:spLocks noGrp="1"/>
          </p:cNvSpPr>
          <p:nvPr/>
        </p:nvSpPr>
        <p:spPr>
          <a:xfrm>
            <a:off x="6048375" y="24860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750 €</a:t>
            </a:r>
          </a:p>
        </p:txBody>
      </p:sp>
      <p:pic>
        <p:nvPicPr>
          <p:cNvPr id="96" name="Graphique 9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143250"/>
            <a:ext cx="200025" cy="2000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03C59E9-EFA4-4A0C-9F6B-C52B6CFFE306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Café, thé &amp; eau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D2A9D5-6DAB-4925-90F4-8CE9B2A114B3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99" name="Graphique 98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457575"/>
            <a:ext cx="200025" cy="2000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EEF9AE5-300E-4565-B32A-4C22937CE9A3}"/>
              </a:ext>
            </a:extLst>
          </p:cNvPr>
          <p:cNvSpPr>
            <a:spLocks noGrp="1"/>
          </p:cNvSpPr>
          <p:nvPr/>
        </p:nvSpPr>
        <p:spPr>
          <a:xfrm>
            <a:off x="885825" y="34099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Mini viennoiseries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4A375-DB8F-45AF-98F1-8381CAAD45D9}"/>
              </a:ext>
            </a:extLst>
          </p:cNvPr>
          <p:cNvSpPr>
            <a:spLocks noGrp="1"/>
          </p:cNvSpPr>
          <p:nvPr/>
        </p:nvSpPr>
        <p:spPr>
          <a:xfrm>
            <a:off x="5267325" y="34099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02" name="Graphique 10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3771900"/>
            <a:ext cx="200025" cy="2000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3436268-4E3C-4420-92AD-188DD35ACE6E}"/>
              </a:ext>
            </a:extLst>
          </p:cNvPr>
          <p:cNvSpPr>
            <a:spLocks noGrp="1"/>
          </p:cNvSpPr>
          <p:nvPr/>
        </p:nvSpPr>
        <p:spPr>
          <a:xfrm>
            <a:off x="885825" y="37242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Fruits de saison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458839-85AA-49C8-B685-F661A5BF76BA}"/>
              </a:ext>
            </a:extLst>
          </p:cNvPr>
          <p:cNvSpPr>
            <a:spLocks noGrp="1"/>
          </p:cNvSpPr>
          <p:nvPr/>
        </p:nvSpPr>
        <p:spPr>
          <a:xfrm>
            <a:off x="5267325" y="37242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99B36D3-DBB3-4C5C-9AAD-BE0D6432572B}"/>
              </a:ext>
            </a:extLst>
          </p:cNvPr>
          <p:cNvSpPr>
            <a:spLocks noGrp="1"/>
          </p:cNvSpPr>
          <p:nvPr/>
        </p:nvSpPr>
        <p:spPr>
          <a:xfrm>
            <a:off x="409575" y="4314825"/>
            <a:ext cx="6743700" cy="2562225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C327AD9-28A2-49C7-ABD2-493AFD318231}"/>
              </a:ext>
            </a:extLst>
          </p:cNvPr>
          <p:cNvSpPr>
            <a:spLocks noGrp="1"/>
          </p:cNvSpPr>
          <p:nvPr/>
        </p:nvSpPr>
        <p:spPr>
          <a:xfrm>
            <a:off x="409575" y="43148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7" name="Image 106"/>
          <p:cNvPicPr>
            <a:picLocks noChangeAspect="1"/>
          </p:cNvPicPr>
          <p:nvPr/>
        </p:nvPicPr>
        <p:blipFill>
          <a:blip r:embed="rId16"/>
          <a:srcRect l="3082" r="3082"/>
          <a:stretch>
            <a:fillRect/>
          </a:stretch>
        </p:blipFill>
        <p:spPr>
          <a:xfrm>
            <a:off x="3038475" y="43338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BFF4D15-60B3-484E-A444-80B2F0BBC369}"/>
              </a:ext>
            </a:extLst>
          </p:cNvPr>
          <p:cNvSpPr>
            <a:spLocks noGrp="1"/>
          </p:cNvSpPr>
          <p:nvPr/>
        </p:nvSpPr>
        <p:spPr>
          <a:xfrm>
            <a:off x="581025" y="43624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Déjeuner d’affaires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B3A766-37DF-4073-A6A5-B247DEA69165}"/>
              </a:ext>
            </a:extLst>
          </p:cNvPr>
          <p:cNvSpPr>
            <a:spLocks noGrp="1"/>
          </p:cNvSpPr>
          <p:nvPr/>
        </p:nvSpPr>
        <p:spPr>
          <a:xfrm>
            <a:off x="581025" y="46863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Repas équilibré &amp; raffiné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2F637DF5-E012-494A-9CA6-A9B12157D8FE}"/>
              </a:ext>
            </a:extLst>
          </p:cNvPr>
          <p:cNvSpPr>
            <a:spLocks noGrp="1"/>
          </p:cNvSpPr>
          <p:nvPr/>
        </p:nvSpPr>
        <p:spPr>
          <a:xfrm>
            <a:off x="6010275" y="43338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913037-78C5-47B9-82E5-F91F371B540D}"/>
              </a:ext>
            </a:extLst>
          </p:cNvPr>
          <p:cNvSpPr>
            <a:spLocks noGrp="1"/>
          </p:cNvSpPr>
          <p:nvPr/>
        </p:nvSpPr>
        <p:spPr>
          <a:xfrm>
            <a:off x="6076950" y="43815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3F4580-F2DF-4FE7-AB00-952CB3462176}"/>
              </a:ext>
            </a:extLst>
          </p:cNvPr>
          <p:cNvSpPr>
            <a:spLocks noGrp="1"/>
          </p:cNvSpPr>
          <p:nvPr/>
        </p:nvSpPr>
        <p:spPr>
          <a:xfrm>
            <a:off x="6048375" y="45624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4 200 €</a:t>
            </a:r>
          </a:p>
        </p:txBody>
      </p:sp>
      <p:pic>
        <p:nvPicPr>
          <p:cNvPr id="113" name="Graphique 11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571500" y="5219700"/>
            <a:ext cx="200025" cy="20002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E5E5882-6605-4C6C-98CA-3EF0BB62FADE}"/>
              </a:ext>
            </a:extLst>
          </p:cNvPr>
          <p:cNvSpPr>
            <a:spLocks noGrp="1"/>
          </p:cNvSpPr>
          <p:nvPr/>
        </p:nvSpPr>
        <p:spPr>
          <a:xfrm>
            <a:off x="885825" y="51720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Poulet grillé sauce moutarde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F97DDA-B901-4475-9B00-8683916D158A}"/>
              </a:ext>
            </a:extLst>
          </p:cNvPr>
          <p:cNvSpPr>
            <a:spLocks noGrp="1"/>
          </p:cNvSpPr>
          <p:nvPr/>
        </p:nvSpPr>
        <p:spPr>
          <a:xfrm>
            <a:off x="5267325" y="51720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16" name="Graphique 115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571500" y="5534025"/>
            <a:ext cx="200025" cy="20002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D873DFD-3592-4553-8D10-0F5F25FE48D7}"/>
              </a:ext>
            </a:extLst>
          </p:cNvPr>
          <p:cNvSpPr>
            <a:spLocks noGrp="1"/>
          </p:cNvSpPr>
          <p:nvPr/>
        </p:nvSpPr>
        <p:spPr>
          <a:xfrm>
            <a:off x="885825" y="54864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Riz pilaf aux légumes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BB66D1-8167-43A8-A8C1-3C557FDFE116}"/>
              </a:ext>
            </a:extLst>
          </p:cNvPr>
          <p:cNvSpPr>
            <a:spLocks noGrp="1"/>
          </p:cNvSpPr>
          <p:nvPr/>
        </p:nvSpPr>
        <p:spPr>
          <a:xfrm>
            <a:off x="5267325" y="54864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19" name="Graphique 118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571500" y="5848350"/>
            <a:ext cx="200025" cy="20002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B289310D-C2FF-46FC-8EE9-0314C288F13F}"/>
              </a:ext>
            </a:extLst>
          </p:cNvPr>
          <p:cNvSpPr>
            <a:spLocks noGrp="1"/>
          </p:cNvSpPr>
          <p:nvPr/>
        </p:nvSpPr>
        <p:spPr>
          <a:xfrm>
            <a:off x="885825" y="58007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Salade verte &amp; crudités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836B3C-10BF-4511-B23D-EFDE631B071D}"/>
              </a:ext>
            </a:extLst>
          </p:cNvPr>
          <p:cNvSpPr>
            <a:spLocks noGrp="1"/>
          </p:cNvSpPr>
          <p:nvPr/>
        </p:nvSpPr>
        <p:spPr>
          <a:xfrm>
            <a:off x="5267325" y="58007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22" name="Graphique 121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571500" y="6162675"/>
            <a:ext cx="200025" cy="20002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F3797C1-641E-47FD-A213-7100AC1207D3}"/>
              </a:ext>
            </a:extLst>
          </p:cNvPr>
          <p:cNvSpPr>
            <a:spLocks noGrp="1"/>
          </p:cNvSpPr>
          <p:nvPr/>
        </p:nvSpPr>
        <p:spPr>
          <a:xfrm>
            <a:off x="885825" y="61150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Tartelette aux fruits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0FE156-7325-4DF7-AE09-A84A721013FC}"/>
              </a:ext>
            </a:extLst>
          </p:cNvPr>
          <p:cNvSpPr>
            <a:spLocks noGrp="1"/>
          </p:cNvSpPr>
          <p:nvPr/>
        </p:nvSpPr>
        <p:spPr>
          <a:xfrm>
            <a:off x="5267325" y="61150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25" name="Graphique 124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6477000"/>
            <a:ext cx="200025" cy="20002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386BC6F7-958E-4322-AB40-5AE8DD466C73}"/>
              </a:ext>
            </a:extLst>
          </p:cNvPr>
          <p:cNvSpPr>
            <a:spLocks noGrp="1"/>
          </p:cNvSpPr>
          <p:nvPr/>
        </p:nvSpPr>
        <p:spPr>
          <a:xfrm>
            <a:off x="885825" y="64293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Pain &amp; condiments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C83EAB8-53A6-4035-949A-CB352DF36A50}"/>
              </a:ext>
            </a:extLst>
          </p:cNvPr>
          <p:cNvSpPr>
            <a:spLocks noGrp="1"/>
          </p:cNvSpPr>
          <p:nvPr/>
        </p:nvSpPr>
        <p:spPr>
          <a:xfrm>
            <a:off x="5267325" y="64293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730E2D53-410E-474D-8A51-00EEC671B224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1933575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DC285E05-7D00-4913-94A1-A2563E17EA60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0" name="Image 129"/>
          <p:cNvPicPr>
            <a:picLocks noChangeAspect="1"/>
          </p:cNvPicPr>
          <p:nvPr/>
        </p:nvPicPr>
        <p:blipFill>
          <a:blip r:embed="rId23"/>
          <a:srcRect l="3082" r="3082"/>
          <a:stretch>
            <a:fillRect/>
          </a:stretch>
        </p:blipFill>
        <p:spPr>
          <a:xfrm>
            <a:off x="3038475" y="70389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510525CA-A92D-48F4-8C47-41272644F3A9}"/>
              </a:ext>
            </a:extLst>
          </p:cNvPr>
          <p:cNvSpPr>
            <a:spLocks noGrp="1"/>
          </p:cNvSpPr>
          <p:nvPr/>
        </p:nvSpPr>
        <p:spPr>
          <a:xfrm>
            <a:off x="581025" y="70675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Pause sucrée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A9783C-395A-4E49-94AB-60E7B9CA6089}"/>
              </a:ext>
            </a:extLst>
          </p:cNvPr>
          <p:cNvSpPr>
            <a:spLocks noGrp="1"/>
          </p:cNvSpPr>
          <p:nvPr/>
        </p:nvSpPr>
        <p:spPr>
          <a:xfrm>
            <a:off x="581025" y="73914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Un instant douceur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E2F06FE-E84E-4842-A90D-4A391B56391B}"/>
              </a:ext>
            </a:extLst>
          </p:cNvPr>
          <p:cNvSpPr>
            <a:spLocks noGrp="1"/>
          </p:cNvSpPr>
          <p:nvPr/>
        </p:nvSpPr>
        <p:spPr>
          <a:xfrm>
            <a:off x="6010275" y="70389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961C42-1267-438B-9FE1-078EA1274113}"/>
              </a:ext>
            </a:extLst>
          </p:cNvPr>
          <p:cNvSpPr>
            <a:spLocks noGrp="1"/>
          </p:cNvSpPr>
          <p:nvPr/>
        </p:nvSpPr>
        <p:spPr>
          <a:xfrm>
            <a:off x="6076950" y="70866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70736CD-E1E9-474E-B91E-270F7EF30A1D}"/>
              </a:ext>
            </a:extLst>
          </p:cNvPr>
          <p:cNvSpPr>
            <a:spLocks noGrp="1"/>
          </p:cNvSpPr>
          <p:nvPr/>
        </p:nvSpPr>
        <p:spPr>
          <a:xfrm>
            <a:off x="6048375" y="7267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700 €</a:t>
            </a:r>
          </a:p>
        </p:txBody>
      </p:sp>
      <p:pic>
        <p:nvPicPr>
          <p:cNvPr id="136" name="Graphique 135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571500" y="7924800"/>
            <a:ext cx="200025" cy="2000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C5205BA-2D99-484A-8955-D89917C1CC0C}"/>
              </a:ext>
            </a:extLst>
          </p:cNvPr>
          <p:cNvSpPr>
            <a:spLocks noGrp="1"/>
          </p:cNvSpPr>
          <p:nvPr/>
        </p:nvSpPr>
        <p:spPr>
          <a:xfrm>
            <a:off x="885825" y="78771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Pâtisseries miniatures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3A41CE0-74F4-4ED8-8554-6C2151A52348}"/>
              </a:ext>
            </a:extLst>
          </p:cNvPr>
          <p:cNvSpPr>
            <a:spLocks noGrp="1"/>
          </p:cNvSpPr>
          <p:nvPr/>
        </p:nvSpPr>
        <p:spPr>
          <a:xfrm>
            <a:off x="5267325" y="78771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39" name="Graphique 138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571500" y="8239125"/>
            <a:ext cx="200025" cy="20002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659CB60D-7AAA-45D9-92B7-520DFCDFE8ED}"/>
              </a:ext>
            </a:extLst>
          </p:cNvPr>
          <p:cNvSpPr>
            <a:spLocks noGrp="1"/>
          </p:cNvSpPr>
          <p:nvPr/>
        </p:nvSpPr>
        <p:spPr>
          <a:xfrm>
            <a:off x="885825" y="81915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Jus naturels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2DF32A-17CC-419A-BDB3-F8D77AFA95E4}"/>
              </a:ext>
            </a:extLst>
          </p:cNvPr>
          <p:cNvSpPr>
            <a:spLocks noGrp="1"/>
          </p:cNvSpPr>
          <p:nvPr/>
        </p:nvSpPr>
        <p:spPr>
          <a:xfrm>
            <a:off x="5267325" y="81915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pic>
        <p:nvPicPr>
          <p:cNvPr id="142" name="Graphique 14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8553450"/>
            <a:ext cx="200025" cy="20002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64FB921-99D6-489A-A2DE-72F38CE19C03}"/>
              </a:ext>
            </a:extLst>
          </p:cNvPr>
          <p:cNvSpPr>
            <a:spLocks noGrp="1"/>
          </p:cNvSpPr>
          <p:nvPr/>
        </p:nvSpPr>
        <p:spPr>
          <a:xfrm>
            <a:off x="885825" y="85058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Fruits secs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3D63E0-EE9B-45B1-A89A-ABB8BD41DAA6}"/>
              </a:ext>
            </a:extLst>
          </p:cNvPr>
          <p:cNvSpPr>
            <a:spLocks noGrp="1"/>
          </p:cNvSpPr>
          <p:nvPr/>
        </p:nvSpPr>
        <p:spPr>
          <a:xfrm>
            <a:off x="5267325" y="85058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8FB9D17B-B44D-4CFE-9F7B-7C95D9A69557}"/>
              </a:ext>
            </a:extLst>
          </p:cNvPr>
          <p:cNvSpPr>
            <a:spLocks noGrp="1"/>
          </p:cNvSpPr>
          <p:nvPr/>
        </p:nvSpPr>
        <p:spPr>
          <a:xfrm>
            <a:off x="409575" y="9115425"/>
            <a:ext cx="6743700" cy="457200"/>
          </a:xfrm>
          <a:prstGeom prst="roundRect">
            <a:avLst>
              <a:gd name="adj" fmla="val 3541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4BE803E-AAAA-4CE8-AEE9-61EEA29F5C02}"/>
              </a:ext>
            </a:extLst>
          </p:cNvPr>
          <p:cNvSpPr>
            <a:spLocks noGrp="1"/>
          </p:cNvSpPr>
          <p:nvPr/>
        </p:nvSpPr>
        <p:spPr>
          <a:xfrm>
            <a:off x="619125" y="911542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SOUS-TOTAL SÉMINAIRE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6AC76C0-1244-485B-884B-AE2FC0DFD028}"/>
              </a:ext>
            </a:extLst>
          </p:cNvPr>
          <p:cNvSpPr>
            <a:spLocks noGrp="1"/>
          </p:cNvSpPr>
          <p:nvPr/>
        </p:nvSpPr>
        <p:spPr>
          <a:xfrm>
            <a:off x="4619625" y="9115425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5 650 €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C9C2D41B-EE46-4888-8FDB-30377C56EA75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0781EF11-C466-B598-D820-5D767A49CD1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0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38AF517A-CBD3-4DFC-90C3-8BC72FA9815D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B56136-9361-4AC3-B11E-498A3F1A3DAD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61A1A-3722-4126-85DA-38A5968E2DA6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79D15-BBB1-4F43-817B-0D061AE44994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RÉCEPTION PRIVÉE</a:t>
            </a:r>
          </a:p>
        </p:txBody>
      </p:sp>
      <p:pic>
        <p:nvPicPr>
          <p:cNvPr id="80" name="Graphiqu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52525" y="1809750"/>
            <a:ext cx="180975" cy="180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51F459-C46D-4F5C-8653-E763E735C2C5}"/>
              </a:ext>
            </a:extLst>
          </p:cNvPr>
          <p:cNvSpPr>
            <a:spLocks noGrp="1"/>
          </p:cNvSpPr>
          <p:nvPr/>
        </p:nvSpPr>
        <p:spPr>
          <a:xfrm>
            <a:off x="1409700" y="1762125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3F622B3C-6875-41E8-90B4-C5633CD696C2}"/>
              </a:ext>
            </a:extLst>
          </p:cNvPr>
          <p:cNvSpPr>
            <a:spLocks noGrp="1"/>
          </p:cNvSpPr>
          <p:nvPr/>
        </p:nvSpPr>
        <p:spPr>
          <a:xfrm>
            <a:off x="27527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3" name="Graphique 8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867025" y="1809750"/>
            <a:ext cx="180975" cy="180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20EC6AC-B40E-4706-982F-317C45D5AE94}"/>
              </a:ext>
            </a:extLst>
          </p:cNvPr>
          <p:cNvSpPr>
            <a:spLocks noGrp="1"/>
          </p:cNvSpPr>
          <p:nvPr/>
        </p:nvSpPr>
        <p:spPr>
          <a:xfrm>
            <a:off x="3124200" y="1762125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 août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A288C1E2-E521-4E2C-898B-1BDC3328218C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0" cy="190500"/>
          </a:xfrm>
          <a:prstGeom prst="line">
            <a:avLst/>
          </a:prstGeom>
          <a:noFill/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6" name="Graphique 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62525" y="1809750"/>
            <a:ext cx="180975" cy="180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5AB977-340B-4524-BE0A-4E26763A153B}"/>
              </a:ext>
            </a:extLst>
          </p:cNvPr>
          <p:cNvSpPr>
            <a:spLocks noGrp="1"/>
          </p:cNvSpPr>
          <p:nvPr/>
        </p:nvSpPr>
        <p:spPr>
          <a:xfrm>
            <a:off x="5219700" y="1762125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B83A2B2-9828-4209-A475-9F846F2EE6B5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587EB94-27EA-434E-91FA-28FED7909D5B}"/>
              </a:ext>
            </a:extLst>
          </p:cNvPr>
          <p:cNvSpPr>
            <a:spLocks noGrp="1"/>
          </p:cNvSpPr>
          <p:nvPr/>
        </p:nvSpPr>
        <p:spPr>
          <a:xfrm>
            <a:off x="409575" y="223837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0" name="Image 89"/>
          <p:cNvPicPr>
            <a:picLocks noChangeAspect="1"/>
          </p:cNvPicPr>
          <p:nvPr/>
        </p:nvPicPr>
        <p:blipFill>
          <a:blip r:embed="rId9"/>
          <a:srcRect l="3082" r="3082"/>
          <a:stretch>
            <a:fillRect/>
          </a:stretch>
        </p:blipFill>
        <p:spPr>
          <a:xfrm>
            <a:off x="3038475" y="225742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4132DAB-FBD7-41FC-B8E4-CF1CAB83EB36}"/>
              </a:ext>
            </a:extLst>
          </p:cNvPr>
          <p:cNvSpPr>
            <a:spLocks noGrp="1"/>
          </p:cNvSpPr>
          <p:nvPr/>
        </p:nvSpPr>
        <p:spPr>
          <a:xfrm>
            <a:off x="581025" y="22860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Cocktail dînatoire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AA5A3A-F581-4D1C-B5ED-DEE8AE43ED4C}"/>
              </a:ext>
            </a:extLst>
          </p:cNvPr>
          <p:cNvSpPr>
            <a:spLocks noGrp="1"/>
          </p:cNvSpPr>
          <p:nvPr/>
        </p:nvSpPr>
        <p:spPr>
          <a:xfrm>
            <a:off x="581025" y="26098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Cocktail chic &amp; raffiné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EB831E4-9ABA-4653-ACBD-FCE0DB27BE50}"/>
              </a:ext>
            </a:extLst>
          </p:cNvPr>
          <p:cNvSpPr>
            <a:spLocks noGrp="1"/>
          </p:cNvSpPr>
          <p:nvPr/>
        </p:nvSpPr>
        <p:spPr>
          <a:xfrm>
            <a:off x="6010275" y="225742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B9CA7-7928-46EB-9326-EB13394DE5B2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DD555E-4FFC-4C98-9DBF-4853FB860990}"/>
              </a:ext>
            </a:extLst>
          </p:cNvPr>
          <p:cNvSpPr>
            <a:spLocks noGrp="1"/>
          </p:cNvSpPr>
          <p:nvPr/>
        </p:nvSpPr>
        <p:spPr>
          <a:xfrm>
            <a:off x="6048375" y="24860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pic>
        <p:nvPicPr>
          <p:cNvPr id="96" name="Graphique 9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143250"/>
            <a:ext cx="200025" cy="2000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BA3A458-DACE-45B8-8E52-F237EA204243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Canapés variés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0E5F4-7604-49D6-90FE-BBB2330E52AA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convives</a:t>
            </a:r>
          </a:p>
        </p:txBody>
      </p:sp>
      <p:pic>
        <p:nvPicPr>
          <p:cNvPr id="99" name="Graphique 9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3457575"/>
            <a:ext cx="200025" cy="2000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F3D8F70-A5F4-4BE6-B0ED-21F62AD8F6B8}"/>
              </a:ext>
            </a:extLst>
          </p:cNvPr>
          <p:cNvSpPr>
            <a:spLocks noGrp="1"/>
          </p:cNvSpPr>
          <p:nvPr/>
        </p:nvSpPr>
        <p:spPr>
          <a:xfrm>
            <a:off x="885825" y="34099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Brochettes mixtes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67F773-0285-40BB-B057-53C1803EA51E}"/>
              </a:ext>
            </a:extLst>
          </p:cNvPr>
          <p:cNvSpPr>
            <a:spLocks noGrp="1"/>
          </p:cNvSpPr>
          <p:nvPr/>
        </p:nvSpPr>
        <p:spPr>
          <a:xfrm>
            <a:off x="5267325" y="34099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convives</a:t>
            </a:r>
          </a:p>
        </p:txBody>
      </p:sp>
      <p:pic>
        <p:nvPicPr>
          <p:cNvPr id="102" name="Graphique 10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3771900"/>
            <a:ext cx="200025" cy="2000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25E2646-F6DB-4063-9074-57F85984450D}"/>
              </a:ext>
            </a:extLst>
          </p:cNvPr>
          <p:cNvSpPr>
            <a:spLocks noGrp="1"/>
          </p:cNvSpPr>
          <p:nvPr/>
        </p:nvSpPr>
        <p:spPr>
          <a:xfrm>
            <a:off x="885825" y="37242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Verrines gourmandes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699A72-3911-47C6-BF6C-D2BBCD912544}"/>
              </a:ext>
            </a:extLst>
          </p:cNvPr>
          <p:cNvSpPr>
            <a:spLocks noGrp="1"/>
          </p:cNvSpPr>
          <p:nvPr/>
        </p:nvSpPr>
        <p:spPr>
          <a:xfrm>
            <a:off x="5267325" y="37242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convives</a:t>
            </a:r>
          </a:p>
        </p:txBody>
      </p:sp>
      <p:pic>
        <p:nvPicPr>
          <p:cNvPr id="105" name="Graphique 104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4086225"/>
            <a:ext cx="200025" cy="2000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42E9B89-2204-4AB4-A0DD-F7733651B60D}"/>
              </a:ext>
            </a:extLst>
          </p:cNvPr>
          <p:cNvSpPr>
            <a:spLocks noGrp="1"/>
          </p:cNvSpPr>
          <p:nvPr/>
        </p:nvSpPr>
        <p:spPr>
          <a:xfrm>
            <a:off x="885825" y="40386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Vins &amp; cocktails maison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B0FF19-54CF-444A-AC56-F7E97EC33910}"/>
              </a:ext>
            </a:extLst>
          </p:cNvPr>
          <p:cNvSpPr>
            <a:spLocks noGrp="1"/>
          </p:cNvSpPr>
          <p:nvPr/>
        </p:nvSpPr>
        <p:spPr>
          <a:xfrm>
            <a:off x="5267325" y="40386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0E370919-2CDA-482B-BE96-EB58DBF38768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2247900"/>
          </a:xfrm>
          <a:prstGeom prst="roundRect">
            <a:avLst>
              <a:gd name="adj" fmla="val 762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2F92F4A-CB93-4CD5-96B6-71FBAA3A39B0}"/>
              </a:ext>
            </a:extLst>
          </p:cNvPr>
          <p:cNvSpPr>
            <a:spLocks noGrp="1"/>
          </p:cNvSpPr>
          <p:nvPr/>
        </p:nvSpPr>
        <p:spPr>
          <a:xfrm>
            <a:off x="409575" y="4629150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0" name="Image 109"/>
          <p:cNvPicPr>
            <a:picLocks noChangeAspect="1"/>
          </p:cNvPicPr>
          <p:nvPr/>
        </p:nvPicPr>
        <p:blipFill>
          <a:blip r:embed="rId16"/>
          <a:srcRect l="3082" r="3082"/>
          <a:stretch>
            <a:fillRect/>
          </a:stretch>
        </p:blipFill>
        <p:spPr>
          <a:xfrm>
            <a:off x="3038475" y="4648200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FDEF2D4-4A5D-46AD-9940-E7F2F2A4EF39}"/>
              </a:ext>
            </a:extLst>
          </p:cNvPr>
          <p:cNvSpPr>
            <a:spLocks noGrp="1"/>
          </p:cNvSpPr>
          <p:nvPr/>
        </p:nvSpPr>
        <p:spPr>
          <a:xfrm>
            <a:off x="581025" y="4676775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Plat chaud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0031BE-C9FA-42A0-AA96-42495025AB0A}"/>
              </a:ext>
            </a:extLst>
          </p:cNvPr>
          <p:cNvSpPr>
            <a:spLocks noGrp="1"/>
          </p:cNvSpPr>
          <p:nvPr/>
        </p:nvSpPr>
        <p:spPr>
          <a:xfrm>
            <a:off x="581025" y="5000625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Plat chaud &amp; garnitures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2C49E26-7F43-4FAC-84D1-0F6A37A9E829}"/>
              </a:ext>
            </a:extLst>
          </p:cNvPr>
          <p:cNvSpPr>
            <a:spLocks noGrp="1"/>
          </p:cNvSpPr>
          <p:nvPr/>
        </p:nvSpPr>
        <p:spPr>
          <a:xfrm>
            <a:off x="6010275" y="4648200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FCF121-1F39-4E97-B21F-7BBB08298629}"/>
              </a:ext>
            </a:extLst>
          </p:cNvPr>
          <p:cNvSpPr>
            <a:spLocks noGrp="1"/>
          </p:cNvSpPr>
          <p:nvPr/>
        </p:nvSpPr>
        <p:spPr>
          <a:xfrm>
            <a:off x="6076950" y="4695825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83C915-46C6-4E06-932A-C7A4D205B192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3 000 €</a:t>
            </a:r>
          </a:p>
        </p:txBody>
      </p:sp>
      <p:pic>
        <p:nvPicPr>
          <p:cNvPr id="116" name="Graphique 115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571500" y="5534025"/>
            <a:ext cx="200025" cy="20002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30E44FB-BBF1-45FC-8B9A-E420580C53ED}"/>
              </a:ext>
            </a:extLst>
          </p:cNvPr>
          <p:cNvSpPr>
            <a:spLocks noGrp="1"/>
          </p:cNvSpPr>
          <p:nvPr/>
        </p:nvSpPr>
        <p:spPr>
          <a:xfrm>
            <a:off x="885825" y="54864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Poisson braisé façon du chef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B16120-77F7-430E-9A52-BB408D225CEA}"/>
              </a:ext>
            </a:extLst>
          </p:cNvPr>
          <p:cNvSpPr>
            <a:spLocks noGrp="1"/>
          </p:cNvSpPr>
          <p:nvPr/>
        </p:nvSpPr>
        <p:spPr>
          <a:xfrm>
            <a:off x="5267325" y="54864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pic>
        <p:nvPicPr>
          <p:cNvPr id="119" name="Graphique 11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5848350"/>
            <a:ext cx="200025" cy="20002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7BCB21E-D1CB-499A-896B-EBE2A1D13878}"/>
              </a:ext>
            </a:extLst>
          </p:cNvPr>
          <p:cNvSpPr>
            <a:spLocks noGrp="1"/>
          </p:cNvSpPr>
          <p:nvPr/>
        </p:nvSpPr>
        <p:spPr>
          <a:xfrm>
            <a:off x="885825" y="58007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Riz aux herbes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B6522D1-8A73-4989-BC4A-9969E02431C2}"/>
              </a:ext>
            </a:extLst>
          </p:cNvPr>
          <p:cNvSpPr>
            <a:spLocks noGrp="1"/>
          </p:cNvSpPr>
          <p:nvPr/>
        </p:nvSpPr>
        <p:spPr>
          <a:xfrm>
            <a:off x="5267325" y="58007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pic>
        <p:nvPicPr>
          <p:cNvPr id="122" name="Graphique 12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71500" y="6162675"/>
            <a:ext cx="200025" cy="20002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5BA6B94-C28D-4182-BFCF-36A4929A1F22}"/>
              </a:ext>
            </a:extLst>
          </p:cNvPr>
          <p:cNvSpPr>
            <a:spLocks noGrp="1"/>
          </p:cNvSpPr>
          <p:nvPr/>
        </p:nvSpPr>
        <p:spPr>
          <a:xfrm>
            <a:off x="885825" y="611505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Légumes sautés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D42DF7-86B1-4E9B-B13E-B0185ABFFADF}"/>
              </a:ext>
            </a:extLst>
          </p:cNvPr>
          <p:cNvSpPr>
            <a:spLocks noGrp="1"/>
          </p:cNvSpPr>
          <p:nvPr/>
        </p:nvSpPr>
        <p:spPr>
          <a:xfrm>
            <a:off x="5267325" y="61150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pic>
        <p:nvPicPr>
          <p:cNvPr id="125" name="Graphique 12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71500" y="6477000"/>
            <a:ext cx="200025" cy="20002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4F0BA82-CD10-459C-8EAD-E4DBBABD548A}"/>
              </a:ext>
            </a:extLst>
          </p:cNvPr>
          <p:cNvSpPr>
            <a:spLocks noGrp="1"/>
          </p:cNvSpPr>
          <p:nvPr/>
        </p:nvSpPr>
        <p:spPr>
          <a:xfrm>
            <a:off x="885825" y="64293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Sauces maison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146EDB-E6A7-406A-8860-96A40AA184C3}"/>
              </a:ext>
            </a:extLst>
          </p:cNvPr>
          <p:cNvSpPr>
            <a:spLocks noGrp="1"/>
          </p:cNvSpPr>
          <p:nvPr/>
        </p:nvSpPr>
        <p:spPr>
          <a:xfrm>
            <a:off x="5267325" y="64293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C38087CE-8FB3-4BA9-8989-95A687087B54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1933575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12383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2A029CAA-9172-440D-848F-64D4882DED12}"/>
              </a:ext>
            </a:extLst>
          </p:cNvPr>
          <p:cNvSpPr>
            <a:spLocks noGrp="1"/>
          </p:cNvSpPr>
          <p:nvPr/>
        </p:nvSpPr>
        <p:spPr>
          <a:xfrm>
            <a:off x="409575" y="7019925"/>
            <a:ext cx="6743700" cy="742950"/>
          </a:xfrm>
          <a:prstGeom prst="roundRect">
            <a:avLst>
              <a:gd name="adj" fmla="val 23077"/>
            </a:avLst>
          </a:prstGeom>
          <a:solidFill>
            <a:srgbClr val="090B09"/>
          </a:solidFill>
          <a:ln w="0">
            <a:solidFill>
              <a:srgbClr val="090B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0" name="Image 129"/>
          <p:cNvPicPr>
            <a:picLocks noChangeAspect="1"/>
          </p:cNvPicPr>
          <p:nvPr/>
        </p:nvPicPr>
        <p:blipFill>
          <a:blip r:embed="rId19"/>
          <a:srcRect l="3082" r="3082"/>
          <a:stretch>
            <a:fillRect/>
          </a:stretch>
        </p:blipFill>
        <p:spPr>
          <a:xfrm>
            <a:off x="3038475" y="7038975"/>
            <a:ext cx="3019425" cy="704850"/>
          </a:xfrm>
          <a:prstGeom prst="roundRect">
            <a:avLst>
              <a:gd name="adj" fmla="val 14865"/>
            </a:avLst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BD785A72-2B9A-45E8-81AB-32E0CBADBFA4}"/>
              </a:ext>
            </a:extLst>
          </p:cNvPr>
          <p:cNvSpPr>
            <a:spLocks noGrp="1"/>
          </p:cNvSpPr>
          <p:nvPr/>
        </p:nvSpPr>
        <p:spPr>
          <a:xfrm>
            <a:off x="581025" y="706755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6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Dessert &amp; digestif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9DEBF59-7AD2-4AC2-8606-A7122CCD7FC9}"/>
              </a:ext>
            </a:extLst>
          </p:cNvPr>
          <p:cNvSpPr>
            <a:spLocks noGrp="1"/>
          </p:cNvSpPr>
          <p:nvPr/>
        </p:nvSpPr>
        <p:spPr>
          <a:xfrm>
            <a:off x="581025" y="73914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Douceurs fin de repas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86D3364-0963-47CB-972A-2066F653D3A3}"/>
              </a:ext>
            </a:extLst>
          </p:cNvPr>
          <p:cNvSpPr>
            <a:spLocks noGrp="1"/>
          </p:cNvSpPr>
          <p:nvPr/>
        </p:nvSpPr>
        <p:spPr>
          <a:xfrm>
            <a:off x="6010275" y="7038975"/>
            <a:ext cx="1123950" cy="704850"/>
          </a:xfrm>
          <a:prstGeom prst="roundRect">
            <a:avLst>
              <a:gd name="adj" fmla="val 14865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89FE05-00FD-4371-9A82-F5DFD986792C}"/>
              </a:ext>
            </a:extLst>
          </p:cNvPr>
          <p:cNvSpPr>
            <a:spLocks noGrp="1"/>
          </p:cNvSpPr>
          <p:nvPr/>
        </p:nvSpPr>
        <p:spPr>
          <a:xfrm>
            <a:off x="6076950" y="70866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defRPr>
            </a:pPr>
            <a:r>
              <a:rPr sz="938" b="0" i="0">
                <a:solidFill>
                  <a:srgbClr val="6B4723"/>
                </a:solidFill>
                <a:latin typeface="Raleway"/>
                <a:ea typeface="Raleway"/>
                <a:cs typeface="Raleway"/>
              </a:rPr>
              <a:t>Sous-total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85486D-4680-4F9F-9590-5795ED4CDF8A}"/>
              </a:ext>
            </a:extLst>
          </p:cNvPr>
          <p:cNvSpPr>
            <a:spLocks noGrp="1"/>
          </p:cNvSpPr>
          <p:nvPr/>
        </p:nvSpPr>
        <p:spPr>
          <a:xfrm>
            <a:off x="6048375" y="7267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defRPr>
            </a:pPr>
            <a:r>
              <a:rPr sz="1688" b="1" i="0">
                <a:solidFill>
                  <a:srgbClr val="6B4723"/>
                </a:solidFill>
                <a:latin typeface="Montserrat"/>
                <a:ea typeface="Montserrat"/>
                <a:cs typeface="Montserrat"/>
              </a:rPr>
              <a:t>1 100 €</a:t>
            </a:r>
          </a:p>
        </p:txBody>
      </p:sp>
      <p:pic>
        <p:nvPicPr>
          <p:cNvPr id="136" name="Graphique 135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>
            <a:off x="571500" y="7924800"/>
            <a:ext cx="200025" cy="20002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C9AE89B-C280-4F6F-A496-921E17ADA5FF}"/>
              </a:ext>
            </a:extLst>
          </p:cNvPr>
          <p:cNvSpPr>
            <a:spLocks noGrp="1"/>
          </p:cNvSpPr>
          <p:nvPr/>
        </p:nvSpPr>
        <p:spPr>
          <a:xfrm>
            <a:off x="885825" y="787717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Assiette de desserts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1216CDA-FB3E-4E64-803B-864D579810F2}"/>
              </a:ext>
            </a:extLst>
          </p:cNvPr>
          <p:cNvSpPr>
            <a:spLocks noGrp="1"/>
          </p:cNvSpPr>
          <p:nvPr/>
        </p:nvSpPr>
        <p:spPr>
          <a:xfrm>
            <a:off x="5267325" y="787717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pic>
        <p:nvPicPr>
          <p:cNvPr id="139" name="Graphique 138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571500" y="8239125"/>
            <a:ext cx="200025" cy="20002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CF96F157-9362-4E46-8CD8-852FFFDF5860}"/>
              </a:ext>
            </a:extLst>
          </p:cNvPr>
          <p:cNvSpPr>
            <a:spLocks noGrp="1"/>
          </p:cNvSpPr>
          <p:nvPr/>
        </p:nvSpPr>
        <p:spPr>
          <a:xfrm>
            <a:off x="885825" y="8191500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Fruits frais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22A3FA-7BFF-49AB-A610-11745703B87D}"/>
              </a:ext>
            </a:extLst>
          </p:cNvPr>
          <p:cNvSpPr>
            <a:spLocks noGrp="1"/>
          </p:cNvSpPr>
          <p:nvPr/>
        </p:nvSpPr>
        <p:spPr>
          <a:xfrm>
            <a:off x="5267325" y="819150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pic>
        <p:nvPicPr>
          <p:cNvPr id="142" name="Graphique 14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571500" y="8553450"/>
            <a:ext cx="200025" cy="20002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135CAC35-0B26-4C7C-A935-6770D71A3BE6}"/>
              </a:ext>
            </a:extLst>
          </p:cNvPr>
          <p:cNvSpPr>
            <a:spLocks noGrp="1"/>
          </p:cNvSpPr>
          <p:nvPr/>
        </p:nvSpPr>
        <p:spPr>
          <a:xfrm>
            <a:off x="885825" y="8505825"/>
            <a:ext cx="4400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72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Digestifs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9C18D5-E915-485C-80E2-26C6380F7EAB}"/>
              </a:ext>
            </a:extLst>
          </p:cNvPr>
          <p:cNvSpPr>
            <a:spLocks noGrp="1"/>
          </p:cNvSpPr>
          <p:nvPr/>
        </p:nvSpPr>
        <p:spPr>
          <a:xfrm>
            <a:off x="5267325" y="8505825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63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D80C5B43-FBF1-4637-954D-04E41D8396B5}"/>
              </a:ext>
            </a:extLst>
          </p:cNvPr>
          <p:cNvSpPr>
            <a:spLocks noGrp="1"/>
          </p:cNvSpPr>
          <p:nvPr/>
        </p:nvSpPr>
        <p:spPr>
          <a:xfrm>
            <a:off x="409575" y="9115425"/>
            <a:ext cx="6743700" cy="457200"/>
          </a:xfrm>
          <a:prstGeom prst="roundRect">
            <a:avLst>
              <a:gd name="adj" fmla="val 3541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55D21-0326-4FA0-A60F-30D35A7AF214}"/>
              </a:ext>
            </a:extLst>
          </p:cNvPr>
          <p:cNvSpPr>
            <a:spLocks noGrp="1"/>
          </p:cNvSpPr>
          <p:nvPr/>
        </p:nvSpPr>
        <p:spPr>
          <a:xfrm>
            <a:off x="619125" y="911542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SOUS-TOTAL RÉCEPTION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BB452FA-8A17-465E-A2CB-5EEB5F47511B}"/>
              </a:ext>
            </a:extLst>
          </p:cNvPr>
          <p:cNvSpPr>
            <a:spLocks noGrp="1"/>
          </p:cNvSpPr>
          <p:nvPr/>
        </p:nvSpPr>
        <p:spPr>
          <a:xfrm>
            <a:off x="4619625" y="9115425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DF8"/>
                </a:solidFill>
                <a:latin typeface="Montserrat"/>
                <a:ea typeface="Montserrat"/>
                <a:cs typeface="Montserrat"/>
              </a:rPr>
              <a:t>5 700 €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74A3CB8-BABA-411D-8198-8D8CDA226039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0D3E2B4D-97D3-7AB9-586F-180F4E66126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2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678F1E4E-FF79-40F6-8B3C-FD8A03F074FE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954B7-7438-4AD2-9D2F-882553EBC07A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6DC50-C2AE-4CE5-979C-9164E4836651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2487E-A6F1-47FA-9EDD-912DA871D87E}"/>
              </a:ext>
            </a:extLst>
          </p:cNvPr>
          <p:cNvSpPr>
            <a:spLocks noGrp="1"/>
          </p:cNvSpPr>
          <p:nvPr/>
        </p:nvSpPr>
        <p:spPr>
          <a:xfrm>
            <a:off x="428625" y="1047750"/>
            <a:ext cx="6705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77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PRESTATIONS ADDITIONNELLES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16545-C675-412F-8331-C90C02F2EFFF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603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500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Prestations retenues pour cet événement</a:t>
            </a:r>
          </a:p>
        </p:txBody>
      </p:sp>
      <p:pic>
        <p:nvPicPr>
          <p:cNvPr id="65" name="Image 64"/>
          <p:cNvPicPr>
            <a:picLocks noChangeAspect="1"/>
          </p:cNvPicPr>
          <p:nvPr/>
        </p:nvPicPr>
        <p:blipFill>
          <a:blip r:embed="rId3"/>
          <a:srcRect t="23852" b="23852"/>
          <a:stretch>
            <a:fillRect/>
          </a:stretch>
        </p:blipFill>
        <p:spPr>
          <a:xfrm>
            <a:off x="514350" y="2038350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DD3544E-E817-4DC8-824B-C7DAF163E205}"/>
              </a:ext>
            </a:extLst>
          </p:cNvPr>
          <p:cNvSpPr>
            <a:spLocks noGrp="1"/>
          </p:cNvSpPr>
          <p:nvPr/>
        </p:nvSpPr>
        <p:spPr>
          <a:xfrm>
            <a:off x="514350" y="2038350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97F0368-53BA-45F5-8CD9-95CC78466F28}"/>
              </a:ext>
            </a:extLst>
          </p:cNvPr>
          <p:cNvSpPr>
            <a:spLocks noGrp="1"/>
          </p:cNvSpPr>
          <p:nvPr/>
        </p:nvSpPr>
        <p:spPr>
          <a:xfrm>
            <a:off x="638175" y="2305050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8" name="Graphique 6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76275" y="2343150"/>
            <a:ext cx="171450" cy="1714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1CEF82-71BC-4308-AEFF-E1A8379077B2}"/>
              </a:ext>
            </a:extLst>
          </p:cNvPr>
          <p:cNvSpPr>
            <a:spLocks noGrp="1"/>
          </p:cNvSpPr>
          <p:nvPr/>
        </p:nvSpPr>
        <p:spPr>
          <a:xfrm>
            <a:off x="1028700" y="20859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D0A7AE-2DDC-489C-B601-37E562585E87}"/>
              </a:ext>
            </a:extLst>
          </p:cNvPr>
          <p:cNvSpPr>
            <a:spLocks noGrp="1"/>
          </p:cNvSpPr>
          <p:nvPr/>
        </p:nvSpPr>
        <p:spPr>
          <a:xfrm>
            <a:off x="1028700" y="2409825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0686B7-E771-4ED1-88EC-38263BF8A44C}"/>
              </a:ext>
            </a:extLst>
          </p:cNvPr>
          <p:cNvSpPr>
            <a:spLocks noGrp="1"/>
          </p:cNvSpPr>
          <p:nvPr/>
        </p:nvSpPr>
        <p:spPr>
          <a:xfrm>
            <a:off x="5286375" y="2133600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6"/>
          <a:srcRect t="23852" b="23852"/>
          <a:stretch>
            <a:fillRect/>
          </a:stretch>
        </p:blipFill>
        <p:spPr>
          <a:xfrm>
            <a:off x="514350" y="2905125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F0D526A-A055-4593-9CF6-CBB63C4D23B4}"/>
              </a:ext>
            </a:extLst>
          </p:cNvPr>
          <p:cNvSpPr>
            <a:spLocks noGrp="1"/>
          </p:cNvSpPr>
          <p:nvPr/>
        </p:nvSpPr>
        <p:spPr>
          <a:xfrm>
            <a:off x="514350" y="2905125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AFD481-7A55-4C30-AA74-B228BD921FE5}"/>
              </a:ext>
            </a:extLst>
          </p:cNvPr>
          <p:cNvSpPr>
            <a:spLocks noGrp="1"/>
          </p:cNvSpPr>
          <p:nvPr/>
        </p:nvSpPr>
        <p:spPr>
          <a:xfrm>
            <a:off x="638175" y="3171825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5" name="Graphique 7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76275" y="3209925"/>
            <a:ext cx="171450" cy="1714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18CD5F-2CFA-4C94-854A-784BAF8092CB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CBEA7B-383F-41E6-8F19-FC99DA01D425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80 couverts · 10 tables · 80 chaises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EA142D-7F71-4D79-B6F7-E46DD50441CB}"/>
              </a:ext>
            </a:extLst>
          </p:cNvPr>
          <p:cNvSpPr>
            <a:spLocks noGrp="1"/>
          </p:cNvSpPr>
          <p:nvPr/>
        </p:nvSpPr>
        <p:spPr>
          <a:xfrm>
            <a:off x="5286375" y="30003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pic>
        <p:nvPicPr>
          <p:cNvPr id="79" name="Image 78"/>
          <p:cNvPicPr>
            <a:picLocks noChangeAspect="1"/>
          </p:cNvPicPr>
          <p:nvPr/>
        </p:nvPicPr>
        <p:blipFill>
          <a:blip r:embed="rId7"/>
          <a:srcRect t="23852" b="23852"/>
          <a:stretch>
            <a:fillRect/>
          </a:stretch>
        </p:blipFill>
        <p:spPr>
          <a:xfrm>
            <a:off x="514350" y="3771900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0B8FEFB0-06A2-4772-9CCE-933809397EE5}"/>
              </a:ext>
            </a:extLst>
          </p:cNvPr>
          <p:cNvSpPr>
            <a:spLocks noGrp="1"/>
          </p:cNvSpPr>
          <p:nvPr/>
        </p:nvSpPr>
        <p:spPr>
          <a:xfrm>
            <a:off x="514350" y="3771900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7D76036-40CB-4E32-BB77-F63CE5DD815B}"/>
              </a:ext>
            </a:extLst>
          </p:cNvPr>
          <p:cNvSpPr>
            <a:spLocks noGrp="1"/>
          </p:cNvSpPr>
          <p:nvPr/>
        </p:nvSpPr>
        <p:spPr>
          <a:xfrm>
            <a:off x="638175" y="4038600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382105-DAFB-4FCC-A99A-45AB003D0CF5}"/>
              </a:ext>
            </a:extLst>
          </p:cNvPr>
          <p:cNvSpPr>
            <a:spLocks noGrp="1"/>
          </p:cNvSpPr>
          <p:nvPr/>
        </p:nvSpPr>
        <p:spPr>
          <a:xfrm>
            <a:off x="1028700" y="38195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Livraison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E33BD-5383-469E-88FA-2F5C4EDDEC73}"/>
              </a:ext>
            </a:extLst>
          </p:cNvPr>
          <p:cNvSpPr>
            <a:spLocks noGrp="1"/>
          </p:cNvSpPr>
          <p:nvPr/>
        </p:nvSpPr>
        <p:spPr>
          <a:xfrm>
            <a:off x="1028700" y="4143375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Aller-retour Rouen · rayon standard 20 km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D61781-5508-49B0-8D59-F05F3FC88E5D}"/>
              </a:ext>
            </a:extLst>
          </p:cNvPr>
          <p:cNvSpPr>
            <a:spLocks noGrp="1"/>
          </p:cNvSpPr>
          <p:nvPr/>
        </p:nvSpPr>
        <p:spPr>
          <a:xfrm>
            <a:off x="5286375" y="3867150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0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Sur devis</a:t>
            </a:r>
          </a:p>
        </p:txBody>
      </p:sp>
      <p:pic>
        <p:nvPicPr>
          <p:cNvPr id="85" name="Image 84"/>
          <p:cNvPicPr>
            <a:picLocks noChangeAspect="1"/>
          </p:cNvPicPr>
          <p:nvPr/>
        </p:nvPicPr>
        <p:blipFill>
          <a:blip r:embed="rId8"/>
          <a:srcRect t="23852" b="23852"/>
          <a:stretch>
            <a:fillRect/>
          </a:stretch>
        </p:blipFill>
        <p:spPr>
          <a:xfrm>
            <a:off x="514350" y="4638675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9660F20-6882-401D-AA39-F52821CE9F4C}"/>
              </a:ext>
            </a:extLst>
          </p:cNvPr>
          <p:cNvSpPr>
            <a:spLocks noGrp="1"/>
          </p:cNvSpPr>
          <p:nvPr/>
        </p:nvSpPr>
        <p:spPr>
          <a:xfrm>
            <a:off x="514350" y="4638675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EE15BF0-CCE5-4B69-9734-EB65CAA2D4D1}"/>
              </a:ext>
            </a:extLst>
          </p:cNvPr>
          <p:cNvSpPr>
            <a:spLocks noGrp="1"/>
          </p:cNvSpPr>
          <p:nvPr/>
        </p:nvSpPr>
        <p:spPr>
          <a:xfrm>
            <a:off x="638175" y="4905375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8" name="Graphique 8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76275" y="4943475"/>
            <a:ext cx="171450" cy="1714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CFFDA5B-1DBA-49C0-86C4-E0754C015132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D674EF-72AB-491A-B95A-14A97BC6A423}"/>
              </a:ext>
            </a:extLst>
          </p:cNvPr>
          <p:cNvSpPr>
            <a:spLocks noGrp="1"/>
          </p:cNvSpPr>
          <p:nvPr/>
        </p:nvSpPr>
        <p:spPr>
          <a:xfrm>
            <a:off x="1028700" y="5010150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10 centres de table · fleurs fraîches &amp; bougies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D1FF58-DFA2-47A6-9553-A4B9AFE86D33}"/>
              </a:ext>
            </a:extLst>
          </p:cNvPr>
          <p:cNvSpPr>
            <a:spLocks noGrp="1"/>
          </p:cNvSpPr>
          <p:nvPr/>
        </p:nvSpPr>
        <p:spPr>
          <a:xfrm>
            <a:off x="5286375" y="473392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pic>
        <p:nvPicPr>
          <p:cNvPr id="92" name="Image 91"/>
          <p:cNvPicPr>
            <a:picLocks noChangeAspect="1"/>
          </p:cNvPicPr>
          <p:nvPr/>
        </p:nvPicPr>
        <p:blipFill>
          <a:blip r:embed="rId9"/>
          <a:srcRect t="23852" b="23852"/>
          <a:stretch>
            <a:fillRect/>
          </a:stretch>
        </p:blipFill>
        <p:spPr>
          <a:xfrm>
            <a:off x="514350" y="5505450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0064793-2341-434F-AA35-ED9C476C1EE0}"/>
              </a:ext>
            </a:extLst>
          </p:cNvPr>
          <p:cNvSpPr>
            <a:spLocks noGrp="1"/>
          </p:cNvSpPr>
          <p:nvPr/>
        </p:nvSpPr>
        <p:spPr>
          <a:xfrm>
            <a:off x="514350" y="5505450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0887219F-6623-4A39-9CFB-6A76F3CAF523}"/>
              </a:ext>
            </a:extLst>
          </p:cNvPr>
          <p:cNvSpPr>
            <a:spLocks noGrp="1"/>
          </p:cNvSpPr>
          <p:nvPr/>
        </p:nvSpPr>
        <p:spPr>
          <a:xfrm>
            <a:off x="638175" y="5772150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1E9EC1-B4B9-4ED3-AFE9-2555972296EB}"/>
              </a:ext>
            </a:extLst>
          </p:cNvPr>
          <p:cNvSpPr>
            <a:spLocks noGrp="1"/>
          </p:cNvSpPr>
          <p:nvPr/>
        </p:nvSpPr>
        <p:spPr>
          <a:xfrm>
            <a:off x="1028700" y="55530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Location de tente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816307-7416-467D-BD36-030C2BB97A6C}"/>
              </a:ext>
            </a:extLst>
          </p:cNvPr>
          <p:cNvSpPr>
            <a:spLocks noGrp="1"/>
          </p:cNvSpPr>
          <p:nvPr/>
        </p:nvSpPr>
        <p:spPr>
          <a:xfrm>
            <a:off x="1028700" y="5876925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1 tente · 80 places · éclairage inclus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02A98F-9DAE-4A30-870D-49E2777A6E7E}"/>
              </a:ext>
            </a:extLst>
          </p:cNvPr>
          <p:cNvSpPr>
            <a:spLocks noGrp="1"/>
          </p:cNvSpPr>
          <p:nvPr/>
        </p:nvSpPr>
        <p:spPr>
          <a:xfrm>
            <a:off x="5286375" y="5600700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750 €</a:t>
            </a:r>
          </a:p>
        </p:txBody>
      </p:sp>
      <p:pic>
        <p:nvPicPr>
          <p:cNvPr id="98" name="Image 97"/>
          <p:cNvPicPr>
            <a:picLocks noChangeAspect="1"/>
          </p:cNvPicPr>
          <p:nvPr/>
        </p:nvPicPr>
        <p:blipFill>
          <a:blip r:embed="rId10"/>
          <a:srcRect t="23852" b="23852"/>
          <a:stretch>
            <a:fillRect/>
          </a:stretch>
        </p:blipFill>
        <p:spPr>
          <a:xfrm>
            <a:off x="514350" y="6372225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D1C9A470-9FE0-4B7C-837C-FB7E014C33B8}"/>
              </a:ext>
            </a:extLst>
          </p:cNvPr>
          <p:cNvSpPr>
            <a:spLocks noGrp="1"/>
          </p:cNvSpPr>
          <p:nvPr/>
        </p:nvSpPr>
        <p:spPr>
          <a:xfrm>
            <a:off x="514350" y="6372225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7B95182D-25CF-4C97-9EAC-F698B7BF3034}"/>
              </a:ext>
            </a:extLst>
          </p:cNvPr>
          <p:cNvSpPr>
            <a:spLocks noGrp="1"/>
          </p:cNvSpPr>
          <p:nvPr/>
        </p:nvSpPr>
        <p:spPr>
          <a:xfrm>
            <a:off x="638175" y="6638925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4C0FF1-EE85-45B3-915B-3473A621D24E}"/>
              </a:ext>
            </a:extLst>
          </p:cNvPr>
          <p:cNvSpPr>
            <a:spLocks noGrp="1"/>
          </p:cNvSpPr>
          <p:nvPr/>
        </p:nvSpPr>
        <p:spPr>
          <a:xfrm>
            <a:off x="1028700" y="64198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Animation musicale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9B555B-1B89-482A-8652-DE31F919585A}"/>
              </a:ext>
            </a:extLst>
          </p:cNvPr>
          <p:cNvSpPr>
            <a:spLocks noGrp="1"/>
          </p:cNvSpPr>
          <p:nvPr/>
        </p:nvSpPr>
        <p:spPr>
          <a:xfrm>
            <a:off x="1028700" y="6743700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1 DJ · sonorisation · prestation de 6 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99F608-748C-4A21-8916-916A4945165F}"/>
              </a:ext>
            </a:extLst>
          </p:cNvPr>
          <p:cNvSpPr>
            <a:spLocks noGrp="1"/>
          </p:cNvSpPr>
          <p:nvPr/>
        </p:nvSpPr>
        <p:spPr>
          <a:xfrm>
            <a:off x="5286375" y="64674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600 €</a:t>
            </a:r>
          </a:p>
        </p:txBody>
      </p:sp>
      <p:pic>
        <p:nvPicPr>
          <p:cNvPr id="104" name="Image 103"/>
          <p:cNvPicPr>
            <a:picLocks noChangeAspect="1"/>
          </p:cNvPicPr>
          <p:nvPr/>
        </p:nvPicPr>
        <p:blipFill>
          <a:blip r:embed="rId11"/>
          <a:srcRect t="23852" b="23852"/>
          <a:stretch>
            <a:fillRect/>
          </a:stretch>
        </p:blipFill>
        <p:spPr>
          <a:xfrm>
            <a:off x="514350" y="7239000"/>
            <a:ext cx="6534150" cy="781050"/>
          </a:xfrm>
          <a:prstGeom prst="roundRect">
            <a:avLst>
              <a:gd name="adj" fmla="val 14634"/>
            </a:avLst>
          </a:prstGeom>
        </p:spPr>
      </p:pic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751C25E3-D0FB-4C97-8558-4F23E9CA463D}"/>
              </a:ext>
            </a:extLst>
          </p:cNvPr>
          <p:cNvSpPr>
            <a:spLocks noGrp="1"/>
          </p:cNvSpPr>
          <p:nvPr/>
        </p:nvSpPr>
        <p:spPr>
          <a:xfrm>
            <a:off x="514350" y="7239000"/>
            <a:ext cx="6534150" cy="781050"/>
          </a:xfrm>
          <a:prstGeom prst="roundRect">
            <a:avLst>
              <a:gd name="adj" fmla="val 14634"/>
            </a:avLst>
          </a:prstGeom>
          <a:solidFill>
            <a:srgbClr val="06150F">
              <a:alpha val="72000"/>
            </a:srgbClr>
          </a:solidFill>
          <a:ln w="6191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18D44F46-F1E3-40B5-BF6D-D207FF2EA786}"/>
              </a:ext>
            </a:extLst>
          </p:cNvPr>
          <p:cNvSpPr>
            <a:spLocks noGrp="1"/>
          </p:cNvSpPr>
          <p:nvPr/>
        </p:nvSpPr>
        <p:spPr>
          <a:xfrm>
            <a:off x="638175" y="7505700"/>
            <a:ext cx="247650" cy="247650"/>
          </a:xfrm>
          <a:prstGeom prst="roundRect">
            <a:avLst>
              <a:gd name="adj" fmla="val 19231"/>
            </a:avLst>
          </a:prstGeom>
          <a:noFill/>
          <a:ln w="1714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C13F88-A896-4E53-9234-6A9582EA3F8F}"/>
              </a:ext>
            </a:extLst>
          </p:cNvPr>
          <p:cNvSpPr>
            <a:spLocks noGrp="1"/>
          </p:cNvSpPr>
          <p:nvPr/>
        </p:nvSpPr>
        <p:spPr>
          <a:xfrm>
            <a:off x="1028700" y="72866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Gâteau sur mesure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743F21-0330-4532-81D3-87B99C2CB197}"/>
              </a:ext>
            </a:extLst>
          </p:cNvPr>
          <p:cNvSpPr>
            <a:spLocks noGrp="1"/>
          </p:cNvSpPr>
          <p:nvPr/>
        </p:nvSpPr>
        <p:spPr>
          <a:xfrm>
            <a:off x="1028700" y="7610475"/>
            <a:ext cx="414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defRPr>
            </a:pPr>
            <a:r>
              <a:rPr sz="1238" b="0" i="0">
                <a:solidFill>
                  <a:srgbClr val="FFF9ED"/>
                </a:solidFill>
                <a:latin typeface="Raleway"/>
                <a:ea typeface="Raleway"/>
                <a:cs typeface="Raleway"/>
              </a:rPr>
              <a:t>Pièce montée · 80 parts · design personnalisé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51F2E4-9129-4922-B68F-D6055864B75D}"/>
              </a:ext>
            </a:extLst>
          </p:cNvPr>
          <p:cNvSpPr>
            <a:spLocks noGrp="1"/>
          </p:cNvSpPr>
          <p:nvPr/>
        </p:nvSpPr>
        <p:spPr>
          <a:xfrm>
            <a:off x="5286375" y="7334250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4D99F"/>
                </a:solidFill>
                <a:latin typeface="Montserrat"/>
                <a:ea typeface="Montserrat"/>
                <a:cs typeface="Montserrat"/>
              </a:rPr>
              <a:t>300 €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449C37D0-79D2-4923-9C1D-47BD1CC8D168}"/>
              </a:ext>
            </a:extLst>
          </p:cNvPr>
          <p:cNvSpPr>
            <a:spLocks noGrp="1"/>
          </p:cNvSpPr>
          <p:nvPr/>
        </p:nvSpPr>
        <p:spPr>
          <a:xfrm>
            <a:off x="514350" y="8134350"/>
            <a:ext cx="6534150" cy="74295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1" name="Graphique 110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781050" y="8372475"/>
            <a:ext cx="257175" cy="25717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A07BA9E-EFFD-4EE0-8FD8-FAF5F2B05BE3}"/>
              </a:ext>
            </a:extLst>
          </p:cNvPr>
          <p:cNvSpPr>
            <a:spLocks noGrp="1"/>
          </p:cNvSpPr>
          <p:nvPr/>
        </p:nvSpPr>
        <p:spPr>
          <a:xfrm>
            <a:off x="1238250" y="8210550"/>
            <a:ext cx="547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8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18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Les prestations cochées sont incluses au présent devis et seront réalisées.</a:t>
            </a:r>
          </a:p>
          <a:p>
            <a:pPr algn="l">
              <a:defRPr sz="1185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185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Toute modification devra être validée avant exécution.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2391CE0-B1F3-42A5-B291-753DB3EFDDEB}"/>
              </a:ext>
            </a:extLst>
          </p:cNvPr>
          <p:cNvSpPr>
            <a:spLocks noGrp="1"/>
          </p:cNvSpPr>
          <p:nvPr/>
        </p:nvSpPr>
        <p:spPr>
          <a:xfrm>
            <a:off x="514350" y="9010650"/>
            <a:ext cx="6534150" cy="447675"/>
          </a:xfrm>
          <a:prstGeom prst="roundRect">
            <a:avLst>
              <a:gd name="adj" fmla="val 29787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971B3F-F0BA-4B93-9CF2-4DA147516FA6}"/>
              </a:ext>
            </a:extLst>
          </p:cNvPr>
          <p:cNvSpPr>
            <a:spLocks noGrp="1"/>
          </p:cNvSpPr>
          <p:nvPr/>
        </p:nvSpPr>
        <p:spPr>
          <a:xfrm>
            <a:off x="704850" y="9010650"/>
            <a:ext cx="4524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F3A35E-94A2-44F4-B3F4-591835B9578B}"/>
              </a:ext>
            </a:extLst>
          </p:cNvPr>
          <p:cNvSpPr>
            <a:spLocks noGrp="1"/>
          </p:cNvSpPr>
          <p:nvPr/>
        </p:nvSpPr>
        <p:spPr>
          <a:xfrm>
            <a:off x="5286375" y="9010650"/>
            <a:ext cx="1476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218A475B-14E4-4FD2-BA39-AC81B6614603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90A1D02-FB08-6C42-4287-BB9B5A2FEB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40184147-A5CE-4BB9-89CB-A4BC27F01376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5FCBF7-AFB9-48A5-8E1F-163C2033DD9E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E966AD-B5E1-40DC-B6C0-94200AA08551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13F4F-86B4-4145-ADD1-31F20755D252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RÉCAPITULATIF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7F0A1-4E22-4403-955A-CEEF3D57BE6D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626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MARIAGE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980C49-716F-47BC-8D12-D0E9A43B8F44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80 convives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3D144F6E-8E9F-486A-ACD1-1469D6A21BCC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2B3A88-26CA-4072-A684-781EB16E6C8B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25 mai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B33FCBFC-10B4-4EAD-B6BA-642C5A99B480}"/>
              </a:ext>
            </a:extLst>
          </p:cNvPr>
          <p:cNvSpPr>
            <a:spLocks noGrp="1"/>
          </p:cNvSpPr>
          <p:nvPr/>
        </p:nvSpPr>
        <p:spPr>
          <a:xfrm>
            <a:off x="53911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8510DA-AD40-4743-BEA9-1C63387B27CB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266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1E4FB2-8397-4063-9204-DFAEC13011C4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 TRAITEUR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64DCBD1-5D78-4932-9FCB-CD1C850B37A6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E613BFB-690C-436F-9FA9-0564F7C342F1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A332F-54EE-4A85-8BF2-5A1ECB8B60D1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1E23C-3CC9-43E9-BE72-33C4F839BC25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Vin d’honneur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DAEF41-4180-4B2E-AB7D-7D19D4C69248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Cocktails et bouchées élégantes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0ADCDD-9F8A-44B1-ADE8-31AD4132AA90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1 950 €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6ABD143-B66A-4A57-99F0-07EDA836F755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F912AB4-D09D-46CC-9205-E9DC172FF40A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F8E36-01FE-4D8D-9E54-CA6C1F3BF737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2DE49-C197-4BCB-8744-37CE9E318AA9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Dîner de réception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37369-8981-4416-8FAE-C127415BF8BD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Menu gastronomique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A5636-F4E4-4A31-8968-54537DBF71CA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7 450 €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D2A664F-6684-4408-8598-56115E3B715C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939E3F0-CAD6-4771-9F99-CB8D5CA1F50E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B8D99F-69BE-4362-B73C-4A2A3C2C3983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B92572-D150-4F86-95F0-4B9A927C8F0E}"/>
              </a:ext>
            </a:extLst>
          </p:cNvPr>
          <p:cNvSpPr>
            <a:spLocks noGrp="1"/>
          </p:cNvSpPr>
          <p:nvPr/>
        </p:nvSpPr>
        <p:spPr>
          <a:xfrm>
            <a:off x="1238250" y="45815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Dessert &amp; gâteau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960C4A-F26B-4674-BAE4-C379156898DF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Pièce montée &amp; douceurs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FB92E1-3075-4580-A55A-E4133A675860}"/>
              </a:ext>
            </a:extLst>
          </p:cNvPr>
          <p:cNvSpPr>
            <a:spLocks noGrp="1"/>
          </p:cNvSpPr>
          <p:nvPr/>
        </p:nvSpPr>
        <p:spPr>
          <a:xfrm>
            <a:off x="5219700" y="46482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2 600 €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31D2B940-2864-432E-BE7F-2DC1BCBD2C69}"/>
              </a:ext>
            </a:extLst>
          </p:cNvPr>
          <p:cNvSpPr>
            <a:spLocks noGrp="1"/>
          </p:cNvSpPr>
          <p:nvPr/>
        </p:nvSpPr>
        <p:spPr>
          <a:xfrm>
            <a:off x="533400" y="541020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FF2464-6236-4116-8A87-6C1F2FFBA3EB}"/>
              </a:ext>
            </a:extLst>
          </p:cNvPr>
          <p:cNvSpPr>
            <a:spLocks noGrp="1"/>
          </p:cNvSpPr>
          <p:nvPr/>
        </p:nvSpPr>
        <p:spPr>
          <a:xfrm>
            <a:off x="733425" y="541020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ÉVÉNEMENT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318AB-B6BB-4B3C-9796-F2E74471CD02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1628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12 000 €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652807-6DDA-4F21-A5A9-A7ECEB7605E7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PRESTATIONS ADDITIONNELLES RETENUES</a:t>
            </a:r>
          </a:p>
        </p:txBody>
      </p:sp>
      <p:pic>
        <p:nvPicPr>
          <p:cNvPr id="93" name="Graphique 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325" y="6515100"/>
            <a:ext cx="238125" cy="2381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FB9AFCF-FC2E-4E2C-8DA0-FDF10A3C44B7}"/>
              </a:ext>
            </a:extLst>
          </p:cNvPr>
          <p:cNvSpPr>
            <a:spLocks noGrp="1"/>
          </p:cNvSpPr>
          <p:nvPr/>
        </p:nvSpPr>
        <p:spPr>
          <a:xfrm>
            <a:off x="1104900" y="64008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3913C7-8489-4271-A0CA-75363889041C}"/>
              </a:ext>
            </a:extLst>
          </p:cNvPr>
          <p:cNvSpPr>
            <a:spLocks noGrp="1"/>
          </p:cNvSpPr>
          <p:nvPr/>
        </p:nvSpPr>
        <p:spPr>
          <a:xfrm>
            <a:off x="1104900" y="666750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577F3D-A375-4D9D-A76D-1029A682BEC2}"/>
              </a:ext>
            </a:extLst>
          </p:cNvPr>
          <p:cNvSpPr>
            <a:spLocks noGrp="1"/>
          </p:cNvSpPr>
          <p:nvPr/>
        </p:nvSpPr>
        <p:spPr>
          <a:xfrm>
            <a:off x="5476875" y="64579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sp>
        <p:nvSpPr>
          <p:cNvPr id="40" name="Connecteur droit 39">
            <a:extLst>
              <a:ext uri="{FF2B5EF4-FFF2-40B4-BE49-F238E27FC236}">
                <a16:creationId xmlns:a16="http://schemas.microsoft.com/office/drawing/2014/main" id="{2D741B49-A5AD-4D94-96E7-59F7E106A1A5}"/>
              </a:ext>
            </a:extLst>
          </p:cNvPr>
          <p:cNvSpPr>
            <a:spLocks noGrp="1"/>
          </p:cNvSpPr>
          <p:nvPr/>
        </p:nvSpPr>
        <p:spPr>
          <a:xfrm>
            <a:off x="1104900" y="6953250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8" name="Graphique 9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5325" y="7172325"/>
            <a:ext cx="238125" cy="2381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95329CD-879F-47A5-93E2-537AC9339616}"/>
              </a:ext>
            </a:extLst>
          </p:cNvPr>
          <p:cNvSpPr>
            <a:spLocks noGrp="1"/>
          </p:cNvSpPr>
          <p:nvPr/>
        </p:nvSpPr>
        <p:spPr>
          <a:xfrm>
            <a:off x="1104900" y="7058025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4B0E9C-F412-4E6E-BAC4-B3E50A5DF913}"/>
              </a:ext>
            </a:extLst>
          </p:cNvPr>
          <p:cNvSpPr>
            <a:spLocks noGrp="1"/>
          </p:cNvSpPr>
          <p:nvPr/>
        </p:nvSpPr>
        <p:spPr>
          <a:xfrm>
            <a:off x="1104900" y="7324725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80 couverts · 10 tables · 80 chaises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F4CCAC-0360-4738-B682-251965EC7BD8}"/>
              </a:ext>
            </a:extLst>
          </p:cNvPr>
          <p:cNvSpPr>
            <a:spLocks noGrp="1"/>
          </p:cNvSpPr>
          <p:nvPr/>
        </p:nvSpPr>
        <p:spPr>
          <a:xfrm>
            <a:off x="5476875" y="71151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sp>
        <p:nvSpPr>
          <p:cNvPr id="45" name="Connecteur droit 44">
            <a:extLst>
              <a:ext uri="{FF2B5EF4-FFF2-40B4-BE49-F238E27FC236}">
                <a16:creationId xmlns:a16="http://schemas.microsoft.com/office/drawing/2014/main" id="{895BE5D4-9F7E-489D-ACB0-DC56F50727FC}"/>
              </a:ext>
            </a:extLst>
          </p:cNvPr>
          <p:cNvSpPr>
            <a:spLocks noGrp="1"/>
          </p:cNvSpPr>
          <p:nvPr/>
        </p:nvSpPr>
        <p:spPr>
          <a:xfrm>
            <a:off x="1104900" y="7610475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4B61545-464F-4D31-AD72-5D6E716E7C8F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F1A583-D3C7-462B-B948-6194FCD6A265}"/>
              </a:ext>
            </a:extLst>
          </p:cNvPr>
          <p:cNvSpPr>
            <a:spLocks noGrp="1"/>
          </p:cNvSpPr>
          <p:nvPr/>
        </p:nvSpPr>
        <p:spPr>
          <a:xfrm>
            <a:off x="1104900" y="798195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10 </a:t>
            </a:r>
            <a:r>
              <a:rPr sz="1163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centres</a:t>
            </a: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de table · fleurs </a:t>
            </a:r>
            <a:r>
              <a:rPr sz="1163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fraîches</a:t>
            </a: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&amp; bougies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98B4AB-C415-4CE4-8CAF-BD22E47C3C75}"/>
              </a:ext>
            </a:extLst>
          </p:cNvPr>
          <p:cNvSpPr>
            <a:spLocks noGrp="1"/>
          </p:cNvSpPr>
          <p:nvPr/>
        </p:nvSpPr>
        <p:spPr>
          <a:xfrm>
            <a:off x="5476875" y="77724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D1D6A887-8073-46DA-8536-59CA8EA97DD9}"/>
              </a:ext>
            </a:extLst>
          </p:cNvPr>
          <p:cNvSpPr>
            <a:spLocks noGrp="1"/>
          </p:cNvSpPr>
          <p:nvPr/>
        </p:nvSpPr>
        <p:spPr>
          <a:xfrm>
            <a:off x="533400" y="840105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FFFDF8"/>
          </a:solidFill>
          <a:ln w="10478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45F1B8-566E-4216-A069-7A7C76D626B0}"/>
              </a:ext>
            </a:extLst>
          </p:cNvPr>
          <p:cNvSpPr>
            <a:spLocks noGrp="1"/>
          </p:cNvSpPr>
          <p:nvPr/>
        </p:nvSpPr>
        <p:spPr>
          <a:xfrm>
            <a:off x="733425" y="84010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595367-59ED-41E6-8774-E5FD9415461C}"/>
              </a:ext>
            </a:extLst>
          </p:cNvPr>
          <p:cNvSpPr>
            <a:spLocks noGrp="1"/>
          </p:cNvSpPr>
          <p:nvPr/>
        </p:nvSpPr>
        <p:spPr>
          <a:xfrm>
            <a:off x="5476875" y="8401050"/>
            <a:ext cx="1247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DB42663-20E5-436E-8D12-41DC51B2B224}"/>
              </a:ext>
            </a:extLst>
          </p:cNvPr>
          <p:cNvSpPr>
            <a:spLocks noGrp="1"/>
          </p:cNvSpPr>
          <p:nvPr/>
        </p:nvSpPr>
        <p:spPr>
          <a:xfrm>
            <a:off x="533400" y="9001125"/>
            <a:ext cx="6496050" cy="838200"/>
          </a:xfrm>
          <a:prstGeom prst="roundRect">
            <a:avLst>
              <a:gd name="adj" fmla="val 17045"/>
            </a:avLst>
          </a:prstGeom>
          <a:solidFill>
            <a:srgbClr val="062B20"/>
          </a:solidFill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7308A1-F93C-4C24-968F-91D268470967}"/>
              </a:ext>
            </a:extLst>
          </p:cNvPr>
          <p:cNvSpPr>
            <a:spLocks noGrp="1"/>
          </p:cNvSpPr>
          <p:nvPr/>
        </p:nvSpPr>
        <p:spPr>
          <a:xfrm>
            <a:off x="752475" y="9086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TOTAL TTC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AC5C91-0969-42B1-B6CB-BAEB844CEE50}"/>
              </a:ext>
            </a:extLst>
          </p:cNvPr>
          <p:cNvSpPr>
            <a:spLocks noGrp="1"/>
          </p:cNvSpPr>
          <p:nvPr/>
        </p:nvSpPr>
        <p:spPr>
          <a:xfrm>
            <a:off x="752475" y="9363075"/>
            <a:ext cx="3381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Événement + prestations additionnelles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4F21A3-19BF-4305-893C-D1412853B791}"/>
              </a:ext>
            </a:extLst>
          </p:cNvPr>
          <p:cNvSpPr>
            <a:spLocks noGrp="1"/>
          </p:cNvSpPr>
          <p:nvPr/>
        </p:nvSpPr>
        <p:spPr>
          <a:xfrm>
            <a:off x="4305300" y="9105900"/>
            <a:ext cx="2409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13 600 €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D8FD5C8-11CD-40BA-AD5B-243799099F2B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76556DBD-454F-C590-13EB-0A6025EED0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  <p:pic>
        <p:nvPicPr>
          <p:cNvPr id="7" name="Graphique 6" descr="Couronne festive avec un remplissage uni">
            <a:extLst>
              <a:ext uri="{FF2B5EF4-FFF2-40B4-BE49-F238E27FC236}">
                <a16:creationId xmlns:a16="http://schemas.microsoft.com/office/drawing/2014/main" id="{A412F438-2807-C87C-55A0-7D5E884A80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95325" y="7829550"/>
            <a:ext cx="238125" cy="238125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5A1E7301-96B3-C485-A7BE-DB575F7BC7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62037" y="2047875"/>
            <a:ext cx="2381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1526B7C3-3436-4387-8334-518F2CF87283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CF0D9F-50AE-4001-83C6-02AA37AC413E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71A98-CC16-4FBB-998B-85F4A1AB3D1E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557DB-5786-4B38-B964-833402C82E94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ACOMPTE &amp; ÉCHÉANCIER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78089-1DD8-4DA2-A931-915A28FBBFE3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626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MARIAGE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CED722C-B855-4E95-9251-FE98C1784CFA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496050" cy="219075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B9966-39FA-4402-827E-AE8C8C600D3B}"/>
              </a:ext>
            </a:extLst>
          </p:cNvPr>
          <p:cNvSpPr>
            <a:spLocks noGrp="1"/>
          </p:cNvSpPr>
          <p:nvPr/>
        </p:nvSpPr>
        <p:spPr>
          <a:xfrm>
            <a:off x="752475" y="2324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TOTAL TTC DE L’ÉVÉNEMENT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E12ED-0396-4823-A202-FE4EA4758716}"/>
              </a:ext>
            </a:extLst>
          </p:cNvPr>
          <p:cNvSpPr>
            <a:spLocks noGrp="1"/>
          </p:cNvSpPr>
          <p:nvPr/>
        </p:nvSpPr>
        <p:spPr>
          <a:xfrm>
            <a:off x="752475" y="2609850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13 600 €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B69A9-CD85-4F9F-A2A7-A3DC4EE0AE9E}"/>
              </a:ext>
            </a:extLst>
          </p:cNvPr>
          <p:cNvSpPr>
            <a:spLocks noGrp="1"/>
          </p:cNvSpPr>
          <p:nvPr/>
        </p:nvSpPr>
        <p:spPr>
          <a:xfrm>
            <a:off x="771525" y="33147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12 000 €  événement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29D13-C125-4DFD-A49E-ABF1BD1007C7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+ 1 600 €  prestations additionnelles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C41D75DC-B133-4112-BE7B-5AE5CDF25A1F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0" cy="1714500"/>
          </a:xfrm>
          <a:prstGeom prst="line">
            <a:avLst/>
          </a:prstGeom>
          <a:noFill/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B0CEA-5181-4407-807C-356F344A444F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ACOMPTE À LA RÉSERVATION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384A1-16E7-4673-A45A-AD7F8A7748DC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B67AA8-59D9-472D-8DC2-F2956006C9D7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4 080 €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4BEC7-2A38-4EDB-8853-BEEA16B904DE}"/>
              </a:ext>
            </a:extLst>
          </p:cNvPr>
          <p:cNvSpPr>
            <a:spLocks noGrp="1"/>
          </p:cNvSpPr>
          <p:nvPr/>
        </p:nvSpPr>
        <p:spPr>
          <a:xfrm>
            <a:off x="4267200" y="36004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226F89-536B-4679-9E91-F0FFB592A270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ÉCHÉANCIER DE PAIEMENT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E8CEA6-67F0-4512-9664-DE802D7F2B7F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ÉTAPE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FC8131-E007-4514-9245-4A14933289F0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7B1D8-C39D-4073-9372-B320D4DFD699}"/>
              </a:ext>
            </a:extLst>
          </p:cNvPr>
          <p:cNvSpPr>
            <a:spLocks noGrp="1"/>
          </p:cNvSpPr>
          <p:nvPr/>
        </p:nvSpPr>
        <p:spPr>
          <a:xfrm>
            <a:off x="26479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ÉCHÉANCE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211361-AC77-47D4-A3F8-C82AEE26D19F}"/>
              </a:ext>
            </a:extLst>
          </p:cNvPr>
          <p:cNvSpPr>
            <a:spLocks noGrp="1"/>
          </p:cNvSpPr>
          <p:nvPr/>
        </p:nvSpPr>
        <p:spPr>
          <a:xfrm>
            <a:off x="5562600" y="50292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MONTANT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EDCE107B-0518-43AC-9CB5-608D3B1733E5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05790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A45A429-65E7-412A-BEA7-5FA8172ABF13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7AE27C-DD49-4B0E-BB1D-472AF2376511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57217F-E61C-4CB2-BB3F-28F7AFFFE5BD}"/>
              </a:ext>
            </a:extLst>
          </p:cNvPr>
          <p:cNvSpPr>
            <a:spLocks noGrp="1"/>
          </p:cNvSpPr>
          <p:nvPr/>
        </p:nvSpPr>
        <p:spPr>
          <a:xfrm>
            <a:off x="2647950" y="54673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la réservation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B36CDB-7598-4401-84A8-BC6565E93BB4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53575B-2A2B-4FD1-9A68-1F80E8ABD9DE}"/>
              </a:ext>
            </a:extLst>
          </p:cNvPr>
          <p:cNvSpPr>
            <a:spLocks noGrp="1"/>
          </p:cNvSpPr>
          <p:nvPr/>
        </p:nvSpPr>
        <p:spPr>
          <a:xfrm>
            <a:off x="5524500" y="5534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4 080 €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8C8187BD-B4EF-4C38-96E4-0174C512C483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AD7306B-F2C2-441A-957F-813955B93FDC}"/>
              </a:ext>
            </a:extLst>
          </p:cNvPr>
          <p:cNvSpPr>
            <a:spLocks noGrp="1"/>
          </p:cNvSpPr>
          <p:nvPr/>
        </p:nvSpPr>
        <p:spPr>
          <a:xfrm>
            <a:off x="838200" y="652462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01D051-8613-439E-A161-B94AB60AF9FB}"/>
              </a:ext>
            </a:extLst>
          </p:cNvPr>
          <p:cNvSpPr>
            <a:spLocks noGrp="1"/>
          </p:cNvSpPr>
          <p:nvPr/>
        </p:nvSpPr>
        <p:spPr>
          <a:xfrm>
            <a:off x="1600200" y="64389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40 %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ECC917-A2EF-4370-843F-0E4ACD361216}"/>
              </a:ext>
            </a:extLst>
          </p:cNvPr>
          <p:cNvSpPr>
            <a:spLocks noGrp="1"/>
          </p:cNvSpPr>
          <p:nvPr/>
        </p:nvSpPr>
        <p:spPr>
          <a:xfrm>
            <a:off x="2647950" y="64008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jours avant l’événement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88B896-18B4-4DBC-97F1-1DF8EDF79C82}"/>
              </a:ext>
            </a:extLst>
          </p:cNvPr>
          <p:cNvSpPr>
            <a:spLocks noGrp="1"/>
          </p:cNvSpPr>
          <p:nvPr/>
        </p:nvSpPr>
        <p:spPr>
          <a:xfrm>
            <a:off x="2647950" y="6724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Préparation &amp; organisation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2FF19A-3D7C-46F3-8E50-CAD890793269}"/>
              </a:ext>
            </a:extLst>
          </p:cNvPr>
          <p:cNvSpPr>
            <a:spLocks noGrp="1"/>
          </p:cNvSpPr>
          <p:nvPr/>
        </p:nvSpPr>
        <p:spPr>
          <a:xfrm>
            <a:off x="5524500" y="646747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5 440 €</a:t>
            </a: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FB16CCAC-6275-4917-B462-6CD94509F7E3}"/>
              </a:ext>
            </a:extLst>
          </p:cNvPr>
          <p:cNvSpPr>
            <a:spLocks noGrp="1"/>
          </p:cNvSpPr>
          <p:nvPr/>
        </p:nvSpPr>
        <p:spPr>
          <a:xfrm>
            <a:off x="666750" y="715327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FBC0772-8D02-4B12-AC29-3C66FB23A205}"/>
              </a:ext>
            </a:extLst>
          </p:cNvPr>
          <p:cNvSpPr>
            <a:spLocks noGrp="1"/>
          </p:cNvSpPr>
          <p:nvPr/>
        </p:nvSpPr>
        <p:spPr>
          <a:xfrm>
            <a:off x="838200" y="74580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C3CE7B-5E5B-41C8-AF7A-F1B31A9E50FE}"/>
              </a:ext>
            </a:extLst>
          </p:cNvPr>
          <p:cNvSpPr>
            <a:spLocks noGrp="1"/>
          </p:cNvSpPr>
          <p:nvPr/>
        </p:nvSpPr>
        <p:spPr>
          <a:xfrm>
            <a:off x="1600200" y="73723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3D19D1-FFEE-4AE2-8080-039A6091044F}"/>
              </a:ext>
            </a:extLst>
          </p:cNvPr>
          <p:cNvSpPr>
            <a:spLocks noGrp="1"/>
          </p:cNvSpPr>
          <p:nvPr/>
        </p:nvSpPr>
        <p:spPr>
          <a:xfrm>
            <a:off x="2647950" y="73342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 jour de l’événement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98A014-C551-4612-919C-59F92C5F6F6D}"/>
              </a:ext>
            </a:extLst>
          </p:cNvPr>
          <p:cNvSpPr>
            <a:spLocks noGrp="1"/>
          </p:cNvSpPr>
          <p:nvPr/>
        </p:nvSpPr>
        <p:spPr>
          <a:xfrm>
            <a:off x="2647950" y="7658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Solde avant le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74DD90-347D-41B9-9898-F4668B854888}"/>
              </a:ext>
            </a:extLst>
          </p:cNvPr>
          <p:cNvSpPr>
            <a:spLocks noGrp="1"/>
          </p:cNvSpPr>
          <p:nvPr/>
        </p:nvSpPr>
        <p:spPr>
          <a:xfrm>
            <a:off x="5524500" y="74009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4 080 €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ED3AD82A-A04D-404A-A69E-19A5A22178F1}"/>
              </a:ext>
            </a:extLst>
          </p:cNvPr>
          <p:cNvSpPr>
            <a:spLocks noGrp="1"/>
          </p:cNvSpPr>
          <p:nvPr/>
        </p:nvSpPr>
        <p:spPr>
          <a:xfrm>
            <a:off x="533400" y="8439150"/>
            <a:ext cx="6496050" cy="971550"/>
          </a:xfrm>
          <a:prstGeom prst="roundRect">
            <a:avLst>
              <a:gd name="adj" fmla="val 14706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5" name="Graphique 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8724900"/>
            <a:ext cx="276225" cy="2762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AE13AAF-56FF-40FD-BFDC-A098B9F3D3A5}"/>
              </a:ext>
            </a:extLst>
          </p:cNvPr>
          <p:cNvSpPr>
            <a:spLocks noGrp="1"/>
          </p:cNvSpPr>
          <p:nvPr/>
        </p:nvSpPr>
        <p:spPr>
          <a:xfrm>
            <a:off x="1257300" y="8572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3"/>
          </a:bodyPr>
          <a:lstStyle/>
          <a:p>
            <a:pPr algn="l">
              <a:def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Échéancier calculé sur le total TTC, prestations additionnelles incluses.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14CEB5-26E9-4BF4-B3B1-09C6A19670BC}"/>
              </a:ext>
            </a:extLst>
          </p:cNvPr>
          <p:cNvSpPr>
            <a:spLocks noGrp="1"/>
          </p:cNvSpPr>
          <p:nvPr/>
        </p:nvSpPr>
        <p:spPr>
          <a:xfrm>
            <a:off x="1257300" y="88963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rPr>
              <a:t>Paiement par virement bancaire ou espèces selon les modalités convenues.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7FA75A5-979F-4985-92B4-536134A15AE8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E65739B-9060-46D6-BC9C-81B74EB041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7C551881-E314-4BA2-99DD-DA8768424A14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F5854-DC72-4768-BC89-8A5CB375C6C7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D16BF6-8899-4D15-A848-1723F263FF18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1243C-DB8E-4FB4-8026-99CA501C55F6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RÉCAPITULATIF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A263D-B088-4FBB-98F1-7009F6F37C0A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626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ANNIVERSAIRE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9A3E0A-57B0-4EA0-A55B-AFA13A82C4C6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convives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32D14418-F00F-4D43-A3DA-3D3575282E25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3ED4E-4310-41C1-A5FD-E367702F9A31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15 juin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FDBE0986-040F-4EFE-8A15-A7E0106591FC}"/>
              </a:ext>
            </a:extLst>
          </p:cNvPr>
          <p:cNvSpPr>
            <a:spLocks noGrp="1"/>
          </p:cNvSpPr>
          <p:nvPr/>
        </p:nvSpPr>
        <p:spPr>
          <a:xfrm>
            <a:off x="53911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BCBC7-3EC0-45F5-944B-C8604769F974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266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8B6A8-26DC-41EF-BAE7-81418C3A69B7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 TRAITEUR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A3F225A-7EE6-4CDE-82A7-60145B271996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43B8127-06F8-4AD4-A584-FE5823AC7014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A48AE-C0A3-4056-8CE8-FDF9CFFCF3E7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9DA185-3535-416B-AE0F-1ECEBB60925F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Cocktail d’accueil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56A422-0C1A-4A44-BD9D-F59C7F9E9DC4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Cocktails conviviaux et rafraîchissements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8F2848-7482-4C0E-8491-8D63DB92AD28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1 200 €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EEFF0E4-7C2D-4F23-B7A7-9E6E61DA1FE0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C604EB6-DF7E-4666-BDBA-C52A5F26A109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E71E80-03DC-4D8C-8DFA-D624ACCEAA81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701A7A-3E3C-4A4B-8EFC-994BBCA4307E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Buffet festif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DB8856-AAE5-41DA-88DC-5FE904E2745E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Plats chauds &amp; accompagnements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92C622-6DF9-4EDA-A6B2-45BB5E9AA105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3 200 €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75ADA92-DF20-49AA-BBAB-EF7B135898E6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240CC99-6FE3-43C2-8D27-0C53D509EE59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48BC74-42EE-4F9B-9E0E-2FA0F7BE1B0C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487EBC-DEF8-4C73-9C5F-CB49D0535CFD}"/>
              </a:ext>
            </a:extLst>
          </p:cNvPr>
          <p:cNvSpPr>
            <a:spLocks noGrp="1"/>
          </p:cNvSpPr>
          <p:nvPr/>
        </p:nvSpPr>
        <p:spPr>
          <a:xfrm>
            <a:off x="1238250" y="45815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Gâteau &amp; douceurs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9BF11D-96E2-42D0-94CC-A1637A3EDD11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Gâteau d’anniversaire et mignardises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86FFB7-E78C-48DD-BB88-AFCEC4C4FC29}"/>
              </a:ext>
            </a:extLst>
          </p:cNvPr>
          <p:cNvSpPr>
            <a:spLocks noGrp="1"/>
          </p:cNvSpPr>
          <p:nvPr/>
        </p:nvSpPr>
        <p:spPr>
          <a:xfrm>
            <a:off x="5219700" y="46482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1 300 €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9E76F99E-10FF-48EE-9601-936CCE4403AD}"/>
              </a:ext>
            </a:extLst>
          </p:cNvPr>
          <p:cNvSpPr>
            <a:spLocks noGrp="1"/>
          </p:cNvSpPr>
          <p:nvPr/>
        </p:nvSpPr>
        <p:spPr>
          <a:xfrm>
            <a:off x="533400" y="541020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94550F-7002-4780-B632-4553F96A0774}"/>
              </a:ext>
            </a:extLst>
          </p:cNvPr>
          <p:cNvSpPr>
            <a:spLocks noGrp="1"/>
          </p:cNvSpPr>
          <p:nvPr/>
        </p:nvSpPr>
        <p:spPr>
          <a:xfrm>
            <a:off x="733425" y="541020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ÉVÉNEMENT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A69BB7-1D41-494A-BF1C-F5F3BE47A6B2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1628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5 700 €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A4D759-F37F-4E1F-8E4E-70EAD1ABBEF8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PRESTATIONS ADDITIONNELLES RETENUES</a:t>
            </a:r>
          </a:p>
        </p:txBody>
      </p:sp>
      <p:pic>
        <p:nvPicPr>
          <p:cNvPr id="93" name="Graphique 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325" y="6515100"/>
            <a:ext cx="238125" cy="2381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A4C4292-2D80-4D6A-871E-1023BE2B5248}"/>
              </a:ext>
            </a:extLst>
          </p:cNvPr>
          <p:cNvSpPr>
            <a:spLocks noGrp="1"/>
          </p:cNvSpPr>
          <p:nvPr/>
        </p:nvSpPr>
        <p:spPr>
          <a:xfrm>
            <a:off x="1104900" y="64008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CAAFA8-AB06-41A3-A94C-4933B99A4474}"/>
              </a:ext>
            </a:extLst>
          </p:cNvPr>
          <p:cNvSpPr>
            <a:spLocks noGrp="1"/>
          </p:cNvSpPr>
          <p:nvPr/>
        </p:nvSpPr>
        <p:spPr>
          <a:xfrm>
            <a:off x="1104900" y="666750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17F300-6E53-4E1A-96C3-A5A37C955B5F}"/>
              </a:ext>
            </a:extLst>
          </p:cNvPr>
          <p:cNvSpPr>
            <a:spLocks noGrp="1"/>
          </p:cNvSpPr>
          <p:nvPr/>
        </p:nvSpPr>
        <p:spPr>
          <a:xfrm>
            <a:off x="5476875" y="64579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sp>
        <p:nvSpPr>
          <p:cNvPr id="40" name="Connecteur droit 39">
            <a:extLst>
              <a:ext uri="{FF2B5EF4-FFF2-40B4-BE49-F238E27FC236}">
                <a16:creationId xmlns:a16="http://schemas.microsoft.com/office/drawing/2014/main" id="{79AC3A09-8187-4AD1-B54E-35C3594ADB84}"/>
              </a:ext>
            </a:extLst>
          </p:cNvPr>
          <p:cNvSpPr>
            <a:spLocks noGrp="1"/>
          </p:cNvSpPr>
          <p:nvPr/>
        </p:nvSpPr>
        <p:spPr>
          <a:xfrm>
            <a:off x="1104900" y="6953250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8" name="Graphique 9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5325" y="7172325"/>
            <a:ext cx="238125" cy="2381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E18E455-3B90-4F19-8284-CE474B8677DD}"/>
              </a:ext>
            </a:extLst>
          </p:cNvPr>
          <p:cNvSpPr>
            <a:spLocks noGrp="1"/>
          </p:cNvSpPr>
          <p:nvPr/>
        </p:nvSpPr>
        <p:spPr>
          <a:xfrm>
            <a:off x="1104900" y="7058025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32505E-D77C-4AD8-9590-1C4794F5404C}"/>
              </a:ext>
            </a:extLst>
          </p:cNvPr>
          <p:cNvSpPr>
            <a:spLocks noGrp="1"/>
          </p:cNvSpPr>
          <p:nvPr/>
        </p:nvSpPr>
        <p:spPr>
          <a:xfrm>
            <a:off x="1104900" y="7324725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80 </a:t>
            </a:r>
            <a:r>
              <a:rPr sz="1163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couverts</a:t>
            </a: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10 tables · 80 chaises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54E9E9-58D4-49C8-A2B9-F547033E5913}"/>
              </a:ext>
            </a:extLst>
          </p:cNvPr>
          <p:cNvSpPr>
            <a:spLocks noGrp="1"/>
          </p:cNvSpPr>
          <p:nvPr/>
        </p:nvSpPr>
        <p:spPr>
          <a:xfrm>
            <a:off x="5476875" y="71151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sp>
        <p:nvSpPr>
          <p:cNvPr id="45" name="Connecteur droit 44">
            <a:extLst>
              <a:ext uri="{FF2B5EF4-FFF2-40B4-BE49-F238E27FC236}">
                <a16:creationId xmlns:a16="http://schemas.microsoft.com/office/drawing/2014/main" id="{B46FA68F-0542-4425-BD60-E225FE539DD4}"/>
              </a:ext>
            </a:extLst>
          </p:cNvPr>
          <p:cNvSpPr>
            <a:spLocks noGrp="1"/>
          </p:cNvSpPr>
          <p:nvPr/>
        </p:nvSpPr>
        <p:spPr>
          <a:xfrm>
            <a:off x="1104900" y="7610475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3" name="Graphique 102" descr="Couronne festive avec un remplissage uni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5325" y="7829550"/>
            <a:ext cx="238125" cy="23812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02EEFC5-6A20-4EED-86E2-66DF4FC6345B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F2B304-9E23-4974-A4DC-529295BF239C}"/>
              </a:ext>
            </a:extLst>
          </p:cNvPr>
          <p:cNvSpPr>
            <a:spLocks noGrp="1"/>
          </p:cNvSpPr>
          <p:nvPr/>
        </p:nvSpPr>
        <p:spPr>
          <a:xfrm>
            <a:off x="1104900" y="798195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10 centres de table · fleurs fraîches &amp; bougies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7C94B1-0CDE-461F-8B3D-F3E26B35C80A}"/>
              </a:ext>
            </a:extLst>
          </p:cNvPr>
          <p:cNvSpPr>
            <a:spLocks noGrp="1"/>
          </p:cNvSpPr>
          <p:nvPr/>
        </p:nvSpPr>
        <p:spPr>
          <a:xfrm>
            <a:off x="5476875" y="77724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D0D71868-2973-442A-9810-2455F15F7CD0}"/>
              </a:ext>
            </a:extLst>
          </p:cNvPr>
          <p:cNvSpPr>
            <a:spLocks noGrp="1"/>
          </p:cNvSpPr>
          <p:nvPr/>
        </p:nvSpPr>
        <p:spPr>
          <a:xfrm>
            <a:off x="533400" y="840105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FFFDF8"/>
          </a:solidFill>
          <a:ln w="10478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B4E97D-97FC-4C53-B35F-6E031A4E4FEC}"/>
              </a:ext>
            </a:extLst>
          </p:cNvPr>
          <p:cNvSpPr>
            <a:spLocks noGrp="1"/>
          </p:cNvSpPr>
          <p:nvPr/>
        </p:nvSpPr>
        <p:spPr>
          <a:xfrm>
            <a:off x="733425" y="84010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16BB55-37DD-4DE3-81B2-398974736B76}"/>
              </a:ext>
            </a:extLst>
          </p:cNvPr>
          <p:cNvSpPr>
            <a:spLocks noGrp="1"/>
          </p:cNvSpPr>
          <p:nvPr/>
        </p:nvSpPr>
        <p:spPr>
          <a:xfrm>
            <a:off x="5476875" y="8401050"/>
            <a:ext cx="1247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D30C0247-90F8-4BF4-A574-1742E14C02B3}"/>
              </a:ext>
            </a:extLst>
          </p:cNvPr>
          <p:cNvSpPr>
            <a:spLocks noGrp="1"/>
          </p:cNvSpPr>
          <p:nvPr/>
        </p:nvSpPr>
        <p:spPr>
          <a:xfrm>
            <a:off x="533400" y="9001125"/>
            <a:ext cx="6496050" cy="838200"/>
          </a:xfrm>
          <a:prstGeom prst="roundRect">
            <a:avLst>
              <a:gd name="adj" fmla="val 17045"/>
            </a:avLst>
          </a:prstGeom>
          <a:solidFill>
            <a:srgbClr val="062B20"/>
          </a:solidFill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F8A68A-9F20-415D-BED0-D8B75AC503FB}"/>
              </a:ext>
            </a:extLst>
          </p:cNvPr>
          <p:cNvSpPr>
            <a:spLocks noGrp="1"/>
          </p:cNvSpPr>
          <p:nvPr/>
        </p:nvSpPr>
        <p:spPr>
          <a:xfrm>
            <a:off x="752475" y="9086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TOTAL TTC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BE22A5-E0CF-4262-960A-AC47EA0F411C}"/>
              </a:ext>
            </a:extLst>
          </p:cNvPr>
          <p:cNvSpPr>
            <a:spLocks noGrp="1"/>
          </p:cNvSpPr>
          <p:nvPr/>
        </p:nvSpPr>
        <p:spPr>
          <a:xfrm>
            <a:off x="752475" y="9363075"/>
            <a:ext cx="3381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Événement + prestations additionnelles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92978D-FFB1-465B-B9D3-0775B4589D96}"/>
              </a:ext>
            </a:extLst>
          </p:cNvPr>
          <p:cNvSpPr>
            <a:spLocks noGrp="1"/>
          </p:cNvSpPr>
          <p:nvPr/>
        </p:nvSpPr>
        <p:spPr>
          <a:xfrm>
            <a:off x="4305300" y="9105900"/>
            <a:ext cx="2409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7 300 €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C64B1153-F3C6-4AD4-9873-238B765A851D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28C9D924-0651-2526-0606-E60360F06E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1113416-054E-96B1-FC20-A4877208ED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62037" y="2047875"/>
            <a:ext cx="2381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86D3CCAC-F283-46DA-B9FF-634B3C97771F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F44E0-24AF-45EE-9D98-B5D4C9CFCC22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58BB25-1561-4A43-BA61-33E294853F69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505CF-BB7C-4FE5-81DB-DDEEB16C09B0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ACOMPTE &amp; ÉCHÉANCIER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D7183-8B65-49CF-A092-D804686CC6D7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626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ANNIVERSAIRE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9C3775-A333-4E84-8BE8-466FD400215B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496050" cy="219075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31F56-7525-400C-A4F4-F75818E24795}"/>
              </a:ext>
            </a:extLst>
          </p:cNvPr>
          <p:cNvSpPr>
            <a:spLocks noGrp="1"/>
          </p:cNvSpPr>
          <p:nvPr/>
        </p:nvSpPr>
        <p:spPr>
          <a:xfrm>
            <a:off x="752475" y="2324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TOTAL TTC DE L’ÉVÉNEMENT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5D6AEF-CC2D-4961-B25B-0BA4B8B16334}"/>
              </a:ext>
            </a:extLst>
          </p:cNvPr>
          <p:cNvSpPr>
            <a:spLocks noGrp="1"/>
          </p:cNvSpPr>
          <p:nvPr/>
        </p:nvSpPr>
        <p:spPr>
          <a:xfrm>
            <a:off x="752475" y="2609850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7 300 €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035B8-0016-4C67-A4E1-7216D799C257}"/>
              </a:ext>
            </a:extLst>
          </p:cNvPr>
          <p:cNvSpPr>
            <a:spLocks noGrp="1"/>
          </p:cNvSpPr>
          <p:nvPr/>
        </p:nvSpPr>
        <p:spPr>
          <a:xfrm>
            <a:off x="771525" y="33147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5 700 €  événement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249347-F30B-4003-9959-E4281206D359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+ 1 600 €  prestations additionnelles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26FCBDBA-AC6B-4500-9D66-2A839B6B26B4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0" cy="1714500"/>
          </a:xfrm>
          <a:prstGeom prst="line">
            <a:avLst/>
          </a:prstGeom>
          <a:noFill/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2F56DD-8E7E-42F7-8034-32440E19BD64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ACOMPTE À LA RÉSERVATION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2A15A6-8AA1-4CC1-9118-E62346DAA39E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BBDF7-FB06-401C-A686-CC1B680AC6A2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3513B-4956-4553-8542-A9269B95ABB4}"/>
              </a:ext>
            </a:extLst>
          </p:cNvPr>
          <p:cNvSpPr>
            <a:spLocks noGrp="1"/>
          </p:cNvSpPr>
          <p:nvPr/>
        </p:nvSpPr>
        <p:spPr>
          <a:xfrm>
            <a:off x="4267200" y="36004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59B255-BFF3-4E67-92FD-2026079E6A20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ÉCHÉANCIER DE PAIEMENT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EFE8CD-71DA-40BC-B55A-F3B61E1917D7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ÉTAPE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B02256-8EAB-44EE-B2FA-4AB9B1656008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DB60F-BD4D-4044-9F33-3719E1A7B11D}"/>
              </a:ext>
            </a:extLst>
          </p:cNvPr>
          <p:cNvSpPr>
            <a:spLocks noGrp="1"/>
          </p:cNvSpPr>
          <p:nvPr/>
        </p:nvSpPr>
        <p:spPr>
          <a:xfrm>
            <a:off x="26479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ÉCHÉANCE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21D634-65B5-4E9D-90A0-35EB7E3B5832}"/>
              </a:ext>
            </a:extLst>
          </p:cNvPr>
          <p:cNvSpPr>
            <a:spLocks noGrp="1"/>
          </p:cNvSpPr>
          <p:nvPr/>
        </p:nvSpPr>
        <p:spPr>
          <a:xfrm>
            <a:off x="5562600" y="50292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MONTANT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E472617B-6E95-49EA-BFD2-85541771D64C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05790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30EA684-91CF-436D-B61C-4681B4CD047C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5E2279-89BA-4B51-9D91-6E1E839A231B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CAAC55-6FEB-4ABF-A28D-7D3C6D8ECCD7}"/>
              </a:ext>
            </a:extLst>
          </p:cNvPr>
          <p:cNvSpPr>
            <a:spLocks noGrp="1"/>
          </p:cNvSpPr>
          <p:nvPr/>
        </p:nvSpPr>
        <p:spPr>
          <a:xfrm>
            <a:off x="2647950" y="54673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la réservation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05F25-957D-44D3-A51E-68D1CD9A5104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AF1746-B9A3-49A3-91E2-3A5239563B7D}"/>
              </a:ext>
            </a:extLst>
          </p:cNvPr>
          <p:cNvSpPr>
            <a:spLocks noGrp="1"/>
          </p:cNvSpPr>
          <p:nvPr/>
        </p:nvSpPr>
        <p:spPr>
          <a:xfrm>
            <a:off x="5524500" y="5534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E539CB97-8924-4251-87FF-BF5D916B288A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0DF0860-8455-48E6-920E-9AB454D88A72}"/>
              </a:ext>
            </a:extLst>
          </p:cNvPr>
          <p:cNvSpPr>
            <a:spLocks noGrp="1"/>
          </p:cNvSpPr>
          <p:nvPr/>
        </p:nvSpPr>
        <p:spPr>
          <a:xfrm>
            <a:off x="838200" y="652462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011432-A9D2-49F2-B2ED-E06EB7B94924}"/>
              </a:ext>
            </a:extLst>
          </p:cNvPr>
          <p:cNvSpPr>
            <a:spLocks noGrp="1"/>
          </p:cNvSpPr>
          <p:nvPr/>
        </p:nvSpPr>
        <p:spPr>
          <a:xfrm>
            <a:off x="1600200" y="64389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40 %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2B86FB-6BE8-44F1-9A29-A53031BE3AAC}"/>
              </a:ext>
            </a:extLst>
          </p:cNvPr>
          <p:cNvSpPr>
            <a:spLocks noGrp="1"/>
          </p:cNvSpPr>
          <p:nvPr/>
        </p:nvSpPr>
        <p:spPr>
          <a:xfrm>
            <a:off x="2647950" y="64008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jours avant l’événement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86855C-05A2-4D92-B653-32D27265779A}"/>
              </a:ext>
            </a:extLst>
          </p:cNvPr>
          <p:cNvSpPr>
            <a:spLocks noGrp="1"/>
          </p:cNvSpPr>
          <p:nvPr/>
        </p:nvSpPr>
        <p:spPr>
          <a:xfrm>
            <a:off x="2647950" y="6724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Préparation &amp; organisation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E955F9-897B-49EC-B2BC-403B0546761E}"/>
              </a:ext>
            </a:extLst>
          </p:cNvPr>
          <p:cNvSpPr>
            <a:spLocks noGrp="1"/>
          </p:cNvSpPr>
          <p:nvPr/>
        </p:nvSpPr>
        <p:spPr>
          <a:xfrm>
            <a:off x="5524500" y="646747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2 920 €</a:t>
            </a: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F376F427-6852-4F28-9BF6-C4436B0B1953}"/>
              </a:ext>
            </a:extLst>
          </p:cNvPr>
          <p:cNvSpPr>
            <a:spLocks noGrp="1"/>
          </p:cNvSpPr>
          <p:nvPr/>
        </p:nvSpPr>
        <p:spPr>
          <a:xfrm>
            <a:off x="666750" y="715327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4BBCB5F-1E0F-4006-A4BA-B68B662EBBA9}"/>
              </a:ext>
            </a:extLst>
          </p:cNvPr>
          <p:cNvSpPr>
            <a:spLocks noGrp="1"/>
          </p:cNvSpPr>
          <p:nvPr/>
        </p:nvSpPr>
        <p:spPr>
          <a:xfrm>
            <a:off x="838200" y="74580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BF1FE9-34F2-499C-B258-5BE98441D664}"/>
              </a:ext>
            </a:extLst>
          </p:cNvPr>
          <p:cNvSpPr>
            <a:spLocks noGrp="1"/>
          </p:cNvSpPr>
          <p:nvPr/>
        </p:nvSpPr>
        <p:spPr>
          <a:xfrm>
            <a:off x="1600200" y="73723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1523CC-7956-4800-BDAF-FE63AAE769A3}"/>
              </a:ext>
            </a:extLst>
          </p:cNvPr>
          <p:cNvSpPr>
            <a:spLocks noGrp="1"/>
          </p:cNvSpPr>
          <p:nvPr/>
        </p:nvSpPr>
        <p:spPr>
          <a:xfrm>
            <a:off x="2647950" y="73342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 jour de l’événement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E2A492-E5EF-46DA-8A74-0F72DF78F1B9}"/>
              </a:ext>
            </a:extLst>
          </p:cNvPr>
          <p:cNvSpPr>
            <a:spLocks noGrp="1"/>
          </p:cNvSpPr>
          <p:nvPr/>
        </p:nvSpPr>
        <p:spPr>
          <a:xfrm>
            <a:off x="2647950" y="7658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Solde avant le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E398C-6DA6-4206-9DBA-57168E36F208}"/>
              </a:ext>
            </a:extLst>
          </p:cNvPr>
          <p:cNvSpPr>
            <a:spLocks noGrp="1"/>
          </p:cNvSpPr>
          <p:nvPr/>
        </p:nvSpPr>
        <p:spPr>
          <a:xfrm>
            <a:off x="5524500" y="74009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74653465-67EA-4A41-994F-20016BB1ECD8}"/>
              </a:ext>
            </a:extLst>
          </p:cNvPr>
          <p:cNvSpPr>
            <a:spLocks noGrp="1"/>
          </p:cNvSpPr>
          <p:nvPr/>
        </p:nvSpPr>
        <p:spPr>
          <a:xfrm>
            <a:off x="533400" y="8439150"/>
            <a:ext cx="6496050" cy="971550"/>
          </a:xfrm>
          <a:prstGeom prst="roundRect">
            <a:avLst>
              <a:gd name="adj" fmla="val 14706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5" name="Graphique 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8724900"/>
            <a:ext cx="276225" cy="2762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A85E3C6-BB09-4A60-AEAE-70AD658F7A06}"/>
              </a:ext>
            </a:extLst>
          </p:cNvPr>
          <p:cNvSpPr>
            <a:spLocks noGrp="1"/>
          </p:cNvSpPr>
          <p:nvPr/>
        </p:nvSpPr>
        <p:spPr>
          <a:xfrm>
            <a:off x="1257300" y="8572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3"/>
          </a:bodyPr>
          <a:lstStyle/>
          <a:p>
            <a:pPr algn="l">
              <a:def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Échéancier calculé sur le total TTC, prestations additionnelles incluses.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431B11-48D2-43BD-A00F-804A50B4F94F}"/>
              </a:ext>
            </a:extLst>
          </p:cNvPr>
          <p:cNvSpPr>
            <a:spLocks noGrp="1"/>
          </p:cNvSpPr>
          <p:nvPr/>
        </p:nvSpPr>
        <p:spPr>
          <a:xfrm>
            <a:off x="1257300" y="88963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rPr>
              <a:t>Paiement par virement bancaire ou espèces selon les modalités convenues.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3DF8239-7923-4DD8-8167-A93224E63553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357445B-46D7-89EA-5F17-2A623DD56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68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6A8427A-71BC-4D89-9BEE-44094910361C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C579E-C888-4098-9EC6-1DD3A0CCCA8C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1A73C-C3CD-40C0-9D63-D0FFA7BA611E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9F145-D404-4C10-975D-0BB89CAA7B52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RÉCAPITULATIF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9E6935-0357-430E-82F1-6777FD3204AA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626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BABY SHOWER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A6C800-D21C-4744-AD6A-095C4038BFF7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 dirty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40 </a:t>
            </a:r>
            <a:r>
              <a:rPr sz="1350" b="1" i="0" dirty="0" err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convives</a:t>
            </a:r>
            <a:endParaRPr sz="1350" b="1" i="0" dirty="0">
              <a:solidFill>
                <a:srgbClr val="15271F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61CECD8B-E9F7-49B7-A96A-8A18C02DD323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D6B1BD-AE3D-474F-A73B-5C01B0B782A0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20 juillet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261104BA-31FC-4DB1-8FD4-18A6ACCB1F2B}"/>
              </a:ext>
            </a:extLst>
          </p:cNvPr>
          <p:cNvSpPr>
            <a:spLocks noGrp="1"/>
          </p:cNvSpPr>
          <p:nvPr/>
        </p:nvSpPr>
        <p:spPr>
          <a:xfrm>
            <a:off x="53911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8DFA9-BB5D-453B-83EC-6ACEA922E0E6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266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CA090-0DD9-4B22-A6E0-5600963506D3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 TRAITEUR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10906FF-C789-47EE-8C49-9BE5F3B66D34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774F203-16D6-4F27-80D3-9F244DF59FAC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B8A04B-FD78-4B1D-B04D-CF28C41120BC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0FA9CA-A85F-495A-AF3F-309BF3981EBB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Accueil gourmand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416036-E5FD-48BC-89C3-44B4967F523A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Douceurs &amp; </a:t>
            </a:r>
            <a:r>
              <a:rPr sz="1238" b="0" i="1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boissons</a:t>
            </a:r>
            <a:r>
              <a:rPr sz="1238" b="0" i="1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C1151-0743-4819-9F06-813771CEE7B8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950 €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25753E3-EDFA-4670-9397-4E0A9F614E8B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37A07B6-87F6-4BD4-9D8C-5BA5427D160F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E27903-429C-4488-9926-BDCA4C3F2DA0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87B92A-2FF0-475A-9854-6CFBBC2F60A5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Brunch pastel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A60C4B-B802-4505-B616-BA774A1FCAC6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Saveurs douces et colorées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746269-2FC0-4F49-9FAB-909CDCA154F6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2 000 €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D58267B-5178-43D2-993A-EF0C36D50589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A20D45B-1AD5-4AC9-8A31-2A2458F1AA84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89190C-009C-4199-842C-7A8FF683AE87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270DD-6F8E-4570-8E4B-C7C59C5E7688}"/>
              </a:ext>
            </a:extLst>
          </p:cNvPr>
          <p:cNvSpPr>
            <a:spLocks noGrp="1"/>
          </p:cNvSpPr>
          <p:nvPr/>
        </p:nvSpPr>
        <p:spPr>
          <a:xfrm>
            <a:off x="1238250" y="45815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Sweet table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E820D6-D1C5-4ED5-A2C9-707B66BF2AEB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Gourmandises &amp; mini gâteaux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F6BAAD-A47E-42FF-83A7-A2C28D86CB81}"/>
              </a:ext>
            </a:extLst>
          </p:cNvPr>
          <p:cNvSpPr>
            <a:spLocks noGrp="1"/>
          </p:cNvSpPr>
          <p:nvPr/>
        </p:nvSpPr>
        <p:spPr>
          <a:xfrm>
            <a:off x="5219700" y="46482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1 000 €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526CEF8-9FCF-4FA4-971F-3B5EA2D6EBE6}"/>
              </a:ext>
            </a:extLst>
          </p:cNvPr>
          <p:cNvSpPr>
            <a:spLocks noGrp="1"/>
          </p:cNvSpPr>
          <p:nvPr/>
        </p:nvSpPr>
        <p:spPr>
          <a:xfrm>
            <a:off x="533400" y="541020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2041A9-B431-4897-8239-5E19635E9CBA}"/>
              </a:ext>
            </a:extLst>
          </p:cNvPr>
          <p:cNvSpPr>
            <a:spLocks noGrp="1"/>
          </p:cNvSpPr>
          <p:nvPr/>
        </p:nvSpPr>
        <p:spPr>
          <a:xfrm>
            <a:off x="733425" y="541020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ÉVÉNEMENT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1D0C35-4155-4102-A799-1A9C3031017D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1628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3 950 €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EE22D5-E83B-44E3-9888-1D9217EFAB09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PRESTATIONS ADDITIONNELLES RETENUES</a:t>
            </a:r>
          </a:p>
        </p:txBody>
      </p:sp>
      <p:pic>
        <p:nvPicPr>
          <p:cNvPr id="93" name="Graphique 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325" y="6515100"/>
            <a:ext cx="238125" cy="2381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044A6A45-6CCD-4613-B199-0E34D1597CD8}"/>
              </a:ext>
            </a:extLst>
          </p:cNvPr>
          <p:cNvSpPr>
            <a:spLocks noGrp="1"/>
          </p:cNvSpPr>
          <p:nvPr/>
        </p:nvSpPr>
        <p:spPr>
          <a:xfrm>
            <a:off x="1104900" y="64008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F1F7AE-EB84-4F01-9BF3-0C8A2414374E}"/>
              </a:ext>
            </a:extLst>
          </p:cNvPr>
          <p:cNvSpPr>
            <a:spLocks noGrp="1"/>
          </p:cNvSpPr>
          <p:nvPr/>
        </p:nvSpPr>
        <p:spPr>
          <a:xfrm>
            <a:off x="1104900" y="666750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53FF22-DBC8-4FB7-8EF8-3155CE94500B}"/>
              </a:ext>
            </a:extLst>
          </p:cNvPr>
          <p:cNvSpPr>
            <a:spLocks noGrp="1"/>
          </p:cNvSpPr>
          <p:nvPr/>
        </p:nvSpPr>
        <p:spPr>
          <a:xfrm>
            <a:off x="5476875" y="64579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sp>
        <p:nvSpPr>
          <p:cNvPr id="40" name="Connecteur droit 39">
            <a:extLst>
              <a:ext uri="{FF2B5EF4-FFF2-40B4-BE49-F238E27FC236}">
                <a16:creationId xmlns:a16="http://schemas.microsoft.com/office/drawing/2014/main" id="{471FFA60-C2B0-4ECD-AF33-D91987E748D5}"/>
              </a:ext>
            </a:extLst>
          </p:cNvPr>
          <p:cNvSpPr>
            <a:spLocks noGrp="1"/>
          </p:cNvSpPr>
          <p:nvPr/>
        </p:nvSpPr>
        <p:spPr>
          <a:xfrm>
            <a:off x="1104900" y="6953250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8" name="Graphique 9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5325" y="7172325"/>
            <a:ext cx="238125" cy="2381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EC556208-25CC-4FB2-9E68-2A86FEA98AE4}"/>
              </a:ext>
            </a:extLst>
          </p:cNvPr>
          <p:cNvSpPr>
            <a:spLocks noGrp="1"/>
          </p:cNvSpPr>
          <p:nvPr/>
        </p:nvSpPr>
        <p:spPr>
          <a:xfrm>
            <a:off x="1104900" y="7058025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D80C4F-6973-46DA-9841-48B3281E9AA0}"/>
              </a:ext>
            </a:extLst>
          </p:cNvPr>
          <p:cNvSpPr>
            <a:spLocks noGrp="1"/>
          </p:cNvSpPr>
          <p:nvPr/>
        </p:nvSpPr>
        <p:spPr>
          <a:xfrm>
            <a:off x="1104900" y="7324725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80 couverts · 10 tables · 80 chaises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775D92-FF4B-4E1A-8F7B-BB209EFDC5DD}"/>
              </a:ext>
            </a:extLst>
          </p:cNvPr>
          <p:cNvSpPr>
            <a:spLocks noGrp="1"/>
          </p:cNvSpPr>
          <p:nvPr/>
        </p:nvSpPr>
        <p:spPr>
          <a:xfrm>
            <a:off x="5476875" y="71151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sp>
        <p:nvSpPr>
          <p:cNvPr id="45" name="Connecteur droit 44">
            <a:extLst>
              <a:ext uri="{FF2B5EF4-FFF2-40B4-BE49-F238E27FC236}">
                <a16:creationId xmlns:a16="http://schemas.microsoft.com/office/drawing/2014/main" id="{0C6464A4-145B-4768-9004-E545DAEF372A}"/>
              </a:ext>
            </a:extLst>
          </p:cNvPr>
          <p:cNvSpPr>
            <a:spLocks noGrp="1"/>
          </p:cNvSpPr>
          <p:nvPr/>
        </p:nvSpPr>
        <p:spPr>
          <a:xfrm>
            <a:off x="1104900" y="7610475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A24339-C07D-4772-9367-4C7E4189AEFE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61129F-9A7A-41A7-AF96-43762BD388E7}"/>
              </a:ext>
            </a:extLst>
          </p:cNvPr>
          <p:cNvSpPr>
            <a:spLocks noGrp="1"/>
          </p:cNvSpPr>
          <p:nvPr/>
        </p:nvSpPr>
        <p:spPr>
          <a:xfrm>
            <a:off x="1104900" y="798195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10 centres de table · fleurs fraîches &amp; bougies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D89E2B-87CA-46D8-AF7D-5375C420396D}"/>
              </a:ext>
            </a:extLst>
          </p:cNvPr>
          <p:cNvSpPr>
            <a:spLocks noGrp="1"/>
          </p:cNvSpPr>
          <p:nvPr/>
        </p:nvSpPr>
        <p:spPr>
          <a:xfrm>
            <a:off x="5476875" y="77724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54405CB2-FA9A-429B-B377-94514D269F25}"/>
              </a:ext>
            </a:extLst>
          </p:cNvPr>
          <p:cNvSpPr>
            <a:spLocks noGrp="1"/>
          </p:cNvSpPr>
          <p:nvPr/>
        </p:nvSpPr>
        <p:spPr>
          <a:xfrm>
            <a:off x="533400" y="840105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FFFDF8"/>
          </a:solidFill>
          <a:ln w="10478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D00E786-A8AF-453F-B637-001C7112C414}"/>
              </a:ext>
            </a:extLst>
          </p:cNvPr>
          <p:cNvSpPr>
            <a:spLocks noGrp="1"/>
          </p:cNvSpPr>
          <p:nvPr/>
        </p:nvSpPr>
        <p:spPr>
          <a:xfrm>
            <a:off x="733425" y="84010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FCB5C2-AA33-4C58-B067-C593CC44AAB7}"/>
              </a:ext>
            </a:extLst>
          </p:cNvPr>
          <p:cNvSpPr>
            <a:spLocks noGrp="1"/>
          </p:cNvSpPr>
          <p:nvPr/>
        </p:nvSpPr>
        <p:spPr>
          <a:xfrm>
            <a:off x="5476875" y="8401050"/>
            <a:ext cx="1247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CBFA8ED9-D06B-416B-B847-90E2265A37C1}"/>
              </a:ext>
            </a:extLst>
          </p:cNvPr>
          <p:cNvSpPr>
            <a:spLocks noGrp="1"/>
          </p:cNvSpPr>
          <p:nvPr/>
        </p:nvSpPr>
        <p:spPr>
          <a:xfrm>
            <a:off x="533400" y="9001125"/>
            <a:ext cx="6496050" cy="838200"/>
          </a:xfrm>
          <a:prstGeom prst="roundRect">
            <a:avLst>
              <a:gd name="adj" fmla="val 17045"/>
            </a:avLst>
          </a:prstGeom>
          <a:solidFill>
            <a:srgbClr val="062B20"/>
          </a:solidFill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44306C2-127A-43AD-8C75-50ADCCE015D3}"/>
              </a:ext>
            </a:extLst>
          </p:cNvPr>
          <p:cNvSpPr>
            <a:spLocks noGrp="1"/>
          </p:cNvSpPr>
          <p:nvPr/>
        </p:nvSpPr>
        <p:spPr>
          <a:xfrm>
            <a:off x="752475" y="9086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TOTAL TTC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8744A30-CE39-4B02-BF84-A6C58C9F4DCB}"/>
              </a:ext>
            </a:extLst>
          </p:cNvPr>
          <p:cNvSpPr>
            <a:spLocks noGrp="1"/>
          </p:cNvSpPr>
          <p:nvPr/>
        </p:nvSpPr>
        <p:spPr>
          <a:xfrm>
            <a:off x="752475" y="9363075"/>
            <a:ext cx="3381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Événement + prestations additionnelles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6A95C7-4514-4206-BFDE-31001FD1C01E}"/>
              </a:ext>
            </a:extLst>
          </p:cNvPr>
          <p:cNvSpPr>
            <a:spLocks noGrp="1"/>
          </p:cNvSpPr>
          <p:nvPr/>
        </p:nvSpPr>
        <p:spPr>
          <a:xfrm>
            <a:off x="4305300" y="9105900"/>
            <a:ext cx="2409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5 550 €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A3C264F-9557-4D49-9D05-41CAF725C5F1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FFF7A54-E451-E238-983B-F742E1D378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  <p:pic>
        <p:nvPicPr>
          <p:cNvPr id="41" name="Graphique 40" descr="Couronne festive avec un remplissage uni">
            <a:extLst>
              <a:ext uri="{FF2B5EF4-FFF2-40B4-BE49-F238E27FC236}">
                <a16:creationId xmlns:a16="http://schemas.microsoft.com/office/drawing/2014/main" id="{4B4046A4-6FD4-7659-DB12-99A65ED09E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95325" y="7829550"/>
            <a:ext cx="238125" cy="238125"/>
          </a:xfrm>
          <a:prstGeom prst="rect">
            <a:avLst/>
          </a:prstGeom>
        </p:spPr>
      </p:pic>
      <p:pic>
        <p:nvPicPr>
          <p:cNvPr id="60" name="Graphique 59">
            <a:extLst>
              <a:ext uri="{FF2B5EF4-FFF2-40B4-BE49-F238E27FC236}">
                <a16:creationId xmlns:a16="http://schemas.microsoft.com/office/drawing/2014/main" id="{F1009478-14F9-F346-1CFA-BD75412F1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62037" y="2047875"/>
            <a:ext cx="2381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3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C1132349-5698-4789-A47B-0E2CD068D5C1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C65C18-DCB9-4188-B9E3-69D3C04695B0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B5E7D-4E51-4EB1-A86D-782AD36EC3E1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1F7D7-5483-447C-9E94-611D93E43C47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ACOMPTE &amp; ÉCHÉANCIER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2B2BA-F4B9-4101-B4E7-BCAA5B378BC7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626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BABY SHOWER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A934DA4-A7CA-4A55-B878-799AE3FCBDE2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496050" cy="219075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D0880E-FB10-40C9-8DBA-CCA442C55989}"/>
              </a:ext>
            </a:extLst>
          </p:cNvPr>
          <p:cNvSpPr>
            <a:spLocks noGrp="1"/>
          </p:cNvSpPr>
          <p:nvPr/>
        </p:nvSpPr>
        <p:spPr>
          <a:xfrm>
            <a:off x="752475" y="2324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TOTAL TTC DE L’ÉVÉNEMENT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F0E0D-29D2-4CE8-A71E-89ADF2D9EC89}"/>
              </a:ext>
            </a:extLst>
          </p:cNvPr>
          <p:cNvSpPr>
            <a:spLocks noGrp="1"/>
          </p:cNvSpPr>
          <p:nvPr/>
        </p:nvSpPr>
        <p:spPr>
          <a:xfrm>
            <a:off x="752475" y="2609850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5 550 €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AF3A71-F27B-49A2-A60C-A2A4E2B80163}"/>
              </a:ext>
            </a:extLst>
          </p:cNvPr>
          <p:cNvSpPr>
            <a:spLocks noGrp="1"/>
          </p:cNvSpPr>
          <p:nvPr/>
        </p:nvSpPr>
        <p:spPr>
          <a:xfrm>
            <a:off x="771525" y="33147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3 950 €  événement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776634-4948-4DAB-9163-EFB26301A081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+ 1 600 €  prestations additionnelles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1098AE01-622F-4D49-8C7A-17EF8F1605D9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0" cy="1714500"/>
          </a:xfrm>
          <a:prstGeom prst="line">
            <a:avLst/>
          </a:prstGeom>
          <a:noFill/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976B-C256-4894-9CC9-1C33BC7CEA98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ACOMPTE À LA RÉSERVATION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E4CD2C-4759-4037-B354-8E9BAA503E2E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B92F55-EC80-4B6E-898E-1217991616B1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1 665 €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1C005A-71D0-434B-8F0F-DA8FE9502C40}"/>
              </a:ext>
            </a:extLst>
          </p:cNvPr>
          <p:cNvSpPr>
            <a:spLocks noGrp="1"/>
          </p:cNvSpPr>
          <p:nvPr/>
        </p:nvSpPr>
        <p:spPr>
          <a:xfrm>
            <a:off x="4267200" y="36004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497589-B574-4DA2-8D8D-E01CF1736EEF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ÉCHÉANCIER DE PAIEMENT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C51AD-A092-4A2E-960B-CE3E5F56B9BF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ÉTAPE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BD8E5C-827D-4F0E-AA9A-DD742CDD77F9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187E46-FB8C-4CF3-9164-627211A3FA79}"/>
              </a:ext>
            </a:extLst>
          </p:cNvPr>
          <p:cNvSpPr>
            <a:spLocks noGrp="1"/>
          </p:cNvSpPr>
          <p:nvPr/>
        </p:nvSpPr>
        <p:spPr>
          <a:xfrm>
            <a:off x="26479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ÉCHÉANCE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CA705E-F469-4118-AEF2-F97FDD23B3AB}"/>
              </a:ext>
            </a:extLst>
          </p:cNvPr>
          <p:cNvSpPr>
            <a:spLocks noGrp="1"/>
          </p:cNvSpPr>
          <p:nvPr/>
        </p:nvSpPr>
        <p:spPr>
          <a:xfrm>
            <a:off x="5562600" y="50292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MONTANT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0B4F567D-6681-4736-96B3-86C09527847C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05790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880695A-9973-4A15-A5C9-6D3374F00324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B8162C-FA0F-410E-B499-AF896899371C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37D6B4-A34F-47B5-B332-C89C45E8EA92}"/>
              </a:ext>
            </a:extLst>
          </p:cNvPr>
          <p:cNvSpPr>
            <a:spLocks noGrp="1"/>
          </p:cNvSpPr>
          <p:nvPr/>
        </p:nvSpPr>
        <p:spPr>
          <a:xfrm>
            <a:off x="2647950" y="54673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la réservation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26AD08-FBD8-4D7B-9EFD-7C9838CBBAF0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D417AF-C033-4005-BDBF-226A47C77323}"/>
              </a:ext>
            </a:extLst>
          </p:cNvPr>
          <p:cNvSpPr>
            <a:spLocks noGrp="1"/>
          </p:cNvSpPr>
          <p:nvPr/>
        </p:nvSpPr>
        <p:spPr>
          <a:xfrm>
            <a:off x="5524500" y="5534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1 665 €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AD31A4C7-B63A-4E83-BE45-5F02964C8FF6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3E90007-587D-48BF-B700-EBF8EB2B2C84}"/>
              </a:ext>
            </a:extLst>
          </p:cNvPr>
          <p:cNvSpPr>
            <a:spLocks noGrp="1"/>
          </p:cNvSpPr>
          <p:nvPr/>
        </p:nvSpPr>
        <p:spPr>
          <a:xfrm>
            <a:off x="838200" y="652462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0F9AAF-16CD-4754-A802-8155A41B5B4F}"/>
              </a:ext>
            </a:extLst>
          </p:cNvPr>
          <p:cNvSpPr>
            <a:spLocks noGrp="1"/>
          </p:cNvSpPr>
          <p:nvPr/>
        </p:nvSpPr>
        <p:spPr>
          <a:xfrm>
            <a:off x="1600200" y="64389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40 %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036DA5-31BD-48FA-8F6C-CE0A91662A55}"/>
              </a:ext>
            </a:extLst>
          </p:cNvPr>
          <p:cNvSpPr>
            <a:spLocks noGrp="1"/>
          </p:cNvSpPr>
          <p:nvPr/>
        </p:nvSpPr>
        <p:spPr>
          <a:xfrm>
            <a:off x="2647950" y="64008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jours avant l’événement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076531-BFFF-41D9-889F-3B17A73AA31D}"/>
              </a:ext>
            </a:extLst>
          </p:cNvPr>
          <p:cNvSpPr>
            <a:spLocks noGrp="1"/>
          </p:cNvSpPr>
          <p:nvPr/>
        </p:nvSpPr>
        <p:spPr>
          <a:xfrm>
            <a:off x="2647950" y="6724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Préparation &amp; organisation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C26D6D-B0A9-4983-BED9-4BF86808EAEF}"/>
              </a:ext>
            </a:extLst>
          </p:cNvPr>
          <p:cNvSpPr>
            <a:spLocks noGrp="1"/>
          </p:cNvSpPr>
          <p:nvPr/>
        </p:nvSpPr>
        <p:spPr>
          <a:xfrm>
            <a:off x="5524500" y="646747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2 220 €</a:t>
            </a: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5F7E2FE7-1F37-4964-81F0-4D45AF518EFB}"/>
              </a:ext>
            </a:extLst>
          </p:cNvPr>
          <p:cNvSpPr>
            <a:spLocks noGrp="1"/>
          </p:cNvSpPr>
          <p:nvPr/>
        </p:nvSpPr>
        <p:spPr>
          <a:xfrm>
            <a:off x="666750" y="715327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AB83A4E-BFF1-496C-8855-96A24F7211F2}"/>
              </a:ext>
            </a:extLst>
          </p:cNvPr>
          <p:cNvSpPr>
            <a:spLocks noGrp="1"/>
          </p:cNvSpPr>
          <p:nvPr/>
        </p:nvSpPr>
        <p:spPr>
          <a:xfrm>
            <a:off x="838200" y="74580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9072D3-E565-4200-97A2-2A6CAA77AE59}"/>
              </a:ext>
            </a:extLst>
          </p:cNvPr>
          <p:cNvSpPr>
            <a:spLocks noGrp="1"/>
          </p:cNvSpPr>
          <p:nvPr/>
        </p:nvSpPr>
        <p:spPr>
          <a:xfrm>
            <a:off x="1600200" y="73723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AECCA3-8F35-4A6E-98BD-D1E7DB85B64D}"/>
              </a:ext>
            </a:extLst>
          </p:cNvPr>
          <p:cNvSpPr>
            <a:spLocks noGrp="1"/>
          </p:cNvSpPr>
          <p:nvPr/>
        </p:nvSpPr>
        <p:spPr>
          <a:xfrm>
            <a:off x="2647950" y="73342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 jour de l’événement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3F97F3-6204-4FFE-9F89-2CBB7A0D2326}"/>
              </a:ext>
            </a:extLst>
          </p:cNvPr>
          <p:cNvSpPr>
            <a:spLocks noGrp="1"/>
          </p:cNvSpPr>
          <p:nvPr/>
        </p:nvSpPr>
        <p:spPr>
          <a:xfrm>
            <a:off x="2647950" y="7658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Solde avant le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037277-CBF7-462B-A031-74D9307F7FF4}"/>
              </a:ext>
            </a:extLst>
          </p:cNvPr>
          <p:cNvSpPr>
            <a:spLocks noGrp="1"/>
          </p:cNvSpPr>
          <p:nvPr/>
        </p:nvSpPr>
        <p:spPr>
          <a:xfrm>
            <a:off x="5524500" y="74009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1 665 €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01268431-7232-4F3E-9882-6E2C69DE17C4}"/>
              </a:ext>
            </a:extLst>
          </p:cNvPr>
          <p:cNvSpPr>
            <a:spLocks noGrp="1"/>
          </p:cNvSpPr>
          <p:nvPr/>
        </p:nvSpPr>
        <p:spPr>
          <a:xfrm>
            <a:off x="533400" y="8439150"/>
            <a:ext cx="6496050" cy="971550"/>
          </a:xfrm>
          <a:prstGeom prst="roundRect">
            <a:avLst>
              <a:gd name="adj" fmla="val 14706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5" name="Graphique 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8724900"/>
            <a:ext cx="276225" cy="2762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2063417-6FDD-4F4E-AF6B-23A919D300EE}"/>
              </a:ext>
            </a:extLst>
          </p:cNvPr>
          <p:cNvSpPr>
            <a:spLocks noGrp="1"/>
          </p:cNvSpPr>
          <p:nvPr/>
        </p:nvSpPr>
        <p:spPr>
          <a:xfrm>
            <a:off x="1257300" y="8572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3"/>
          </a:bodyPr>
          <a:lstStyle/>
          <a:p>
            <a:pPr algn="l">
              <a:def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Échéancier calculé sur le total TTC, prestations additionnelles incluses.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C5C4FF-86EA-4E5A-9ECA-52D38093A2F9}"/>
              </a:ext>
            </a:extLst>
          </p:cNvPr>
          <p:cNvSpPr>
            <a:spLocks noGrp="1"/>
          </p:cNvSpPr>
          <p:nvPr/>
        </p:nvSpPr>
        <p:spPr>
          <a:xfrm>
            <a:off x="1257300" y="88963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rPr>
              <a:t>Paiement par virement bancaire ou espèces selon les modalités convenues.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C86AC80-D1F4-46EA-A15B-19E2D64F35FB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30CFE6A-6C9D-E467-C7F5-C7EA521BE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3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765586EA-09F6-4B9A-AF3F-198BFB77671A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75145-A6C8-48C0-80FA-0EA28F594326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7CE1D-7A98-40F3-9765-C5D39FD1A0A0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B1CAE-CAB9-494F-9052-EA9FA86646B4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RÉCAPITULATIF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E5D07A-3478-423B-A179-728B30A47DF4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626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dirty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SÉMINAIRE D’ENTREPRISE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4F4371-451D-48D2-B356-446C131DDBFF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60 participants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1344067-966E-4D4D-B508-23F9CE9F91C2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EB46E2-1735-465A-95A9-A2ACD7F8E25C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10 septembre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93C19445-5A31-40CC-8502-E6411B99CD8F}"/>
              </a:ext>
            </a:extLst>
          </p:cNvPr>
          <p:cNvSpPr>
            <a:spLocks noGrp="1"/>
          </p:cNvSpPr>
          <p:nvPr/>
        </p:nvSpPr>
        <p:spPr>
          <a:xfrm>
            <a:off x="53911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1D22BD-3C7E-4479-89A5-084AC170C3C7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266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9477B-A149-4D0D-85E4-8FB2F4EDE38A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 dirty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 TRAITEUR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1D8AC3A-D980-4E57-B172-FC4151CB603A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2BB8227-27EE-4FAF-BE09-A2724CAD1094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05906-03D6-4944-A643-BE94AA55156B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386365-2D4D-4126-87A0-A9AE670780B2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Pause-café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F1185-2AFB-4D63-B4FB-8D65A8296045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Café, thé &amp; douceurs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1B87C-73F7-4F1F-8049-2DC967FC9B36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750 €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754A514-1238-467A-9DF6-1E369B7C1C34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296087B-0A8C-4AA9-802C-C35CD62700A1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329043-8CCF-4F6A-9458-EA00A26C7F8A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97874D-2C60-49B3-B870-A1529B2EC37D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Déjeuner d’affaires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58126D-A3F5-4E59-A787-B88091784862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Repas équilibré &amp; raffiné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8FEEC4-455E-4683-9209-846B61F40931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4 200 €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E143876-180E-442E-A53C-282459B0C709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6337C35-F9AF-4E81-83C1-6189BA9A969E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D8087B-5FAB-4F45-9D09-D052C12891BE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59B1A2-97C1-486C-8C5E-51EF2BF20487}"/>
              </a:ext>
            </a:extLst>
          </p:cNvPr>
          <p:cNvSpPr>
            <a:spLocks noGrp="1"/>
          </p:cNvSpPr>
          <p:nvPr/>
        </p:nvSpPr>
        <p:spPr>
          <a:xfrm>
            <a:off x="1238250" y="45815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Pause sucrée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EE7DE1-FB65-41B0-AC86-35C076D15AA9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Un instant douceur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7B5DFC-2266-4EED-A5B9-1986ECEBB9DE}"/>
              </a:ext>
            </a:extLst>
          </p:cNvPr>
          <p:cNvSpPr>
            <a:spLocks noGrp="1"/>
          </p:cNvSpPr>
          <p:nvPr/>
        </p:nvSpPr>
        <p:spPr>
          <a:xfrm>
            <a:off x="5219700" y="46482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700 €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E6A200C-FD5D-4A65-BA8E-78312EDAF912}"/>
              </a:ext>
            </a:extLst>
          </p:cNvPr>
          <p:cNvSpPr>
            <a:spLocks noGrp="1"/>
          </p:cNvSpPr>
          <p:nvPr/>
        </p:nvSpPr>
        <p:spPr>
          <a:xfrm>
            <a:off x="533400" y="541020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FC40B2-AE54-4352-95F1-77F5ED2A48AE}"/>
              </a:ext>
            </a:extLst>
          </p:cNvPr>
          <p:cNvSpPr>
            <a:spLocks noGrp="1"/>
          </p:cNvSpPr>
          <p:nvPr/>
        </p:nvSpPr>
        <p:spPr>
          <a:xfrm>
            <a:off x="733425" y="541020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ÉVÉNEMENT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846437-47D0-48E6-A839-235C2D9926CF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1628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5 650 €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0B3B57-88F1-41E6-9EB9-5C141FD32DF6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PRESTATIONS ADDITIONNELLES RETENUES</a:t>
            </a:r>
          </a:p>
        </p:txBody>
      </p:sp>
      <p:pic>
        <p:nvPicPr>
          <p:cNvPr id="93" name="Graphique 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325" y="6515100"/>
            <a:ext cx="238125" cy="2381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EF4CF97-EC11-4B18-95ED-06A6FE747205}"/>
              </a:ext>
            </a:extLst>
          </p:cNvPr>
          <p:cNvSpPr>
            <a:spLocks noGrp="1"/>
          </p:cNvSpPr>
          <p:nvPr/>
        </p:nvSpPr>
        <p:spPr>
          <a:xfrm>
            <a:off x="1104900" y="64008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9B1A2C-24CD-4487-8261-2CE7A267FBD1}"/>
              </a:ext>
            </a:extLst>
          </p:cNvPr>
          <p:cNvSpPr>
            <a:spLocks noGrp="1"/>
          </p:cNvSpPr>
          <p:nvPr/>
        </p:nvSpPr>
        <p:spPr>
          <a:xfrm>
            <a:off x="1104900" y="666750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6F898E-2422-4690-A350-8771691B7996}"/>
              </a:ext>
            </a:extLst>
          </p:cNvPr>
          <p:cNvSpPr>
            <a:spLocks noGrp="1"/>
          </p:cNvSpPr>
          <p:nvPr/>
        </p:nvSpPr>
        <p:spPr>
          <a:xfrm>
            <a:off x="5476875" y="64579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sp>
        <p:nvSpPr>
          <p:cNvPr id="40" name="Connecteur droit 39">
            <a:extLst>
              <a:ext uri="{FF2B5EF4-FFF2-40B4-BE49-F238E27FC236}">
                <a16:creationId xmlns:a16="http://schemas.microsoft.com/office/drawing/2014/main" id="{91501744-CB9A-4C9A-8129-7E8A132FBAB2}"/>
              </a:ext>
            </a:extLst>
          </p:cNvPr>
          <p:cNvSpPr>
            <a:spLocks noGrp="1"/>
          </p:cNvSpPr>
          <p:nvPr/>
        </p:nvSpPr>
        <p:spPr>
          <a:xfrm>
            <a:off x="1104900" y="6953250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8" name="Graphique 9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5325" y="7172325"/>
            <a:ext cx="238125" cy="2381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C163BDA-CA31-4B83-8E90-C51D68918A9A}"/>
              </a:ext>
            </a:extLst>
          </p:cNvPr>
          <p:cNvSpPr>
            <a:spLocks noGrp="1"/>
          </p:cNvSpPr>
          <p:nvPr/>
        </p:nvSpPr>
        <p:spPr>
          <a:xfrm>
            <a:off x="1104900" y="7058025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82FCC86-47D9-48A9-80B0-6A5044641B7E}"/>
              </a:ext>
            </a:extLst>
          </p:cNvPr>
          <p:cNvSpPr>
            <a:spLocks noGrp="1"/>
          </p:cNvSpPr>
          <p:nvPr/>
        </p:nvSpPr>
        <p:spPr>
          <a:xfrm>
            <a:off x="1104900" y="7324725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80 couverts · 10 tables · 80 chaises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A8D3F-9604-47E6-B6BD-3F7CAF12A0BC}"/>
              </a:ext>
            </a:extLst>
          </p:cNvPr>
          <p:cNvSpPr>
            <a:spLocks noGrp="1"/>
          </p:cNvSpPr>
          <p:nvPr/>
        </p:nvSpPr>
        <p:spPr>
          <a:xfrm>
            <a:off x="5476875" y="71151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sp>
        <p:nvSpPr>
          <p:cNvPr id="45" name="Connecteur droit 44">
            <a:extLst>
              <a:ext uri="{FF2B5EF4-FFF2-40B4-BE49-F238E27FC236}">
                <a16:creationId xmlns:a16="http://schemas.microsoft.com/office/drawing/2014/main" id="{E7194870-05E9-47BB-B4DD-8AC353704A5F}"/>
              </a:ext>
            </a:extLst>
          </p:cNvPr>
          <p:cNvSpPr>
            <a:spLocks noGrp="1"/>
          </p:cNvSpPr>
          <p:nvPr/>
        </p:nvSpPr>
        <p:spPr>
          <a:xfrm>
            <a:off x="1104900" y="7610475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E89D46-7CB0-4058-A3F9-934EBB588CC2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DC529C-1718-4DE4-A270-7BBE86769308}"/>
              </a:ext>
            </a:extLst>
          </p:cNvPr>
          <p:cNvSpPr>
            <a:spLocks noGrp="1"/>
          </p:cNvSpPr>
          <p:nvPr/>
        </p:nvSpPr>
        <p:spPr>
          <a:xfrm>
            <a:off x="1104900" y="798195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10 centres de table · fleurs fraîches &amp; bougies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CAC2F4-AC17-4418-8F79-666FF64FBC9C}"/>
              </a:ext>
            </a:extLst>
          </p:cNvPr>
          <p:cNvSpPr>
            <a:spLocks noGrp="1"/>
          </p:cNvSpPr>
          <p:nvPr/>
        </p:nvSpPr>
        <p:spPr>
          <a:xfrm>
            <a:off x="5476875" y="77724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523F1130-CCEC-4156-9245-C732455AE745}"/>
              </a:ext>
            </a:extLst>
          </p:cNvPr>
          <p:cNvSpPr>
            <a:spLocks noGrp="1"/>
          </p:cNvSpPr>
          <p:nvPr/>
        </p:nvSpPr>
        <p:spPr>
          <a:xfrm>
            <a:off x="533400" y="840105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FFFDF8"/>
          </a:solidFill>
          <a:ln w="10478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6F9768-14CA-4C43-BB6E-8F86E9C5D2B2}"/>
              </a:ext>
            </a:extLst>
          </p:cNvPr>
          <p:cNvSpPr>
            <a:spLocks noGrp="1"/>
          </p:cNvSpPr>
          <p:nvPr/>
        </p:nvSpPr>
        <p:spPr>
          <a:xfrm>
            <a:off x="733425" y="84010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8D7133-0724-4370-981D-A5275102F1FD}"/>
              </a:ext>
            </a:extLst>
          </p:cNvPr>
          <p:cNvSpPr>
            <a:spLocks noGrp="1"/>
          </p:cNvSpPr>
          <p:nvPr/>
        </p:nvSpPr>
        <p:spPr>
          <a:xfrm>
            <a:off x="5476875" y="8401050"/>
            <a:ext cx="1247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83163217-1F08-4B79-9B7E-408E3DBEA429}"/>
              </a:ext>
            </a:extLst>
          </p:cNvPr>
          <p:cNvSpPr>
            <a:spLocks noGrp="1"/>
          </p:cNvSpPr>
          <p:nvPr/>
        </p:nvSpPr>
        <p:spPr>
          <a:xfrm>
            <a:off x="533400" y="9001125"/>
            <a:ext cx="6496050" cy="838200"/>
          </a:xfrm>
          <a:prstGeom prst="roundRect">
            <a:avLst>
              <a:gd name="adj" fmla="val 17045"/>
            </a:avLst>
          </a:prstGeom>
          <a:solidFill>
            <a:srgbClr val="062B20"/>
          </a:solidFill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43F8BC-C7AF-46E9-AC3A-AA702D9071BF}"/>
              </a:ext>
            </a:extLst>
          </p:cNvPr>
          <p:cNvSpPr>
            <a:spLocks noGrp="1"/>
          </p:cNvSpPr>
          <p:nvPr/>
        </p:nvSpPr>
        <p:spPr>
          <a:xfrm>
            <a:off x="752475" y="9086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TOTAL TTC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B83017-9A56-40B8-82E9-4D082857A169}"/>
              </a:ext>
            </a:extLst>
          </p:cNvPr>
          <p:cNvSpPr>
            <a:spLocks noGrp="1"/>
          </p:cNvSpPr>
          <p:nvPr/>
        </p:nvSpPr>
        <p:spPr>
          <a:xfrm>
            <a:off x="752475" y="9363075"/>
            <a:ext cx="3381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Événement + prestations additionnelles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F11016-3188-48A4-B04D-CEB6498712DB}"/>
              </a:ext>
            </a:extLst>
          </p:cNvPr>
          <p:cNvSpPr>
            <a:spLocks noGrp="1"/>
          </p:cNvSpPr>
          <p:nvPr/>
        </p:nvSpPr>
        <p:spPr>
          <a:xfrm>
            <a:off x="4305300" y="9105900"/>
            <a:ext cx="2409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7 250 €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0FAD88E0-AA37-457C-A971-ED0DAE2C4203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A2A3983-C644-76C9-AFAD-730D60AB80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  <p:pic>
        <p:nvPicPr>
          <p:cNvPr id="7" name="Graphique 6" descr="Couronne festive avec un remplissage uni">
            <a:extLst>
              <a:ext uri="{FF2B5EF4-FFF2-40B4-BE49-F238E27FC236}">
                <a16:creationId xmlns:a16="http://schemas.microsoft.com/office/drawing/2014/main" id="{9F4C3794-9287-7E1F-4AC5-F79425404E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95325" y="7829550"/>
            <a:ext cx="238125" cy="238125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F7734B03-A068-B80B-554A-142C793252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62037" y="2047875"/>
            <a:ext cx="2381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8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B9631686-6F48-4123-85C2-3DD2F351FBAD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FB5E59-312E-445B-87DD-361FD1D8C3CA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5F7C6-43AB-4922-B87B-A928EF231F0C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A50901-47FE-4857-A334-F28A4939B7DC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ACOMPTE &amp; ÉCHÉANCIER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EAAFB-AC0C-48BA-90D1-07DDFEA34DD5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626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SÉMINAIRE D’ENTREPRISE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0A4EE29-6B07-4B14-8E1C-13DAE98B4BCA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496050" cy="219075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19859-C5F3-4E1E-AE32-106B1C0C3BC1}"/>
              </a:ext>
            </a:extLst>
          </p:cNvPr>
          <p:cNvSpPr>
            <a:spLocks noGrp="1"/>
          </p:cNvSpPr>
          <p:nvPr/>
        </p:nvSpPr>
        <p:spPr>
          <a:xfrm>
            <a:off x="752475" y="2324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TOTAL TTC DE L’ÉVÉNEMENT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14BB54-4C80-49F2-822D-7E2BEFDD0C2F}"/>
              </a:ext>
            </a:extLst>
          </p:cNvPr>
          <p:cNvSpPr>
            <a:spLocks noGrp="1"/>
          </p:cNvSpPr>
          <p:nvPr/>
        </p:nvSpPr>
        <p:spPr>
          <a:xfrm>
            <a:off x="752475" y="2609850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7 250 €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B8F11-71CB-44D1-872B-324E576CE9F2}"/>
              </a:ext>
            </a:extLst>
          </p:cNvPr>
          <p:cNvSpPr>
            <a:spLocks noGrp="1"/>
          </p:cNvSpPr>
          <p:nvPr/>
        </p:nvSpPr>
        <p:spPr>
          <a:xfrm>
            <a:off x="771525" y="33147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5 650 €  événement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F72B31-AD91-4288-9C29-CEC781BC2617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+ 1 600 €  prestations additionnelles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1635EC5E-489C-4D2C-AB90-222AFA27B814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0" cy="1714500"/>
          </a:xfrm>
          <a:prstGeom prst="line">
            <a:avLst/>
          </a:prstGeom>
          <a:noFill/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5CD8C4-F31E-4B2F-ADF4-2100B4940B65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ACOMPTE À LA RÉSERVATION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7FE94-612A-422F-BB46-A6C698FA4A59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39622-AD4B-4D04-95D8-D15E36920F3A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2 175 €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71E6D-5E25-4004-828B-0BC1F90E2ACA}"/>
              </a:ext>
            </a:extLst>
          </p:cNvPr>
          <p:cNvSpPr>
            <a:spLocks noGrp="1"/>
          </p:cNvSpPr>
          <p:nvPr/>
        </p:nvSpPr>
        <p:spPr>
          <a:xfrm>
            <a:off x="4267200" y="36004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E62F5-274E-43E7-992C-A619181282A7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ÉCHÉANCIER DE PAIEMENT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8B085B-8B9F-4321-9F67-C5660E950162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ÉTAPE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0108DB-89B2-4F73-BD19-9D408EEE4828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BE8CF4-AD60-4BBA-B7B5-CAD0DF6A054B}"/>
              </a:ext>
            </a:extLst>
          </p:cNvPr>
          <p:cNvSpPr>
            <a:spLocks noGrp="1"/>
          </p:cNvSpPr>
          <p:nvPr/>
        </p:nvSpPr>
        <p:spPr>
          <a:xfrm>
            <a:off x="26479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ÉCHÉANCE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2FE6C9-480A-46CC-A57E-3EDA8D438EBC}"/>
              </a:ext>
            </a:extLst>
          </p:cNvPr>
          <p:cNvSpPr>
            <a:spLocks noGrp="1"/>
          </p:cNvSpPr>
          <p:nvPr/>
        </p:nvSpPr>
        <p:spPr>
          <a:xfrm>
            <a:off x="5562600" y="50292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MONTANT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B4F8623C-8C61-49F8-95C2-96E39376F209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05790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C19BF7B-5CF5-4293-B0B0-BE2969EA37EF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23E76A-25FA-4E07-8D7E-F11F2CCD7A39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94C926-62FB-440D-85FB-9ED73EDB5600}"/>
              </a:ext>
            </a:extLst>
          </p:cNvPr>
          <p:cNvSpPr>
            <a:spLocks noGrp="1"/>
          </p:cNvSpPr>
          <p:nvPr/>
        </p:nvSpPr>
        <p:spPr>
          <a:xfrm>
            <a:off x="2647950" y="54673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la réservation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096ADA-1AC9-4C34-98AA-E7CE3E3EC1C8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19F5A8-A2A2-4C7A-BF57-1B46C749B45A}"/>
              </a:ext>
            </a:extLst>
          </p:cNvPr>
          <p:cNvSpPr>
            <a:spLocks noGrp="1"/>
          </p:cNvSpPr>
          <p:nvPr/>
        </p:nvSpPr>
        <p:spPr>
          <a:xfrm>
            <a:off x="5524500" y="5534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2 175 €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ADCA7938-3EAA-44B1-BAE1-1B0B18CF88CE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0C38605-3AE0-4C09-8BDE-22FF71412733}"/>
              </a:ext>
            </a:extLst>
          </p:cNvPr>
          <p:cNvSpPr>
            <a:spLocks noGrp="1"/>
          </p:cNvSpPr>
          <p:nvPr/>
        </p:nvSpPr>
        <p:spPr>
          <a:xfrm>
            <a:off x="838200" y="652462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14FADC-F943-4C27-AA5B-D6975F4AD1F4}"/>
              </a:ext>
            </a:extLst>
          </p:cNvPr>
          <p:cNvSpPr>
            <a:spLocks noGrp="1"/>
          </p:cNvSpPr>
          <p:nvPr/>
        </p:nvSpPr>
        <p:spPr>
          <a:xfrm>
            <a:off x="1600200" y="64389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40 %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B7422-6F9E-4F9A-A3E6-F275B9FA1D24}"/>
              </a:ext>
            </a:extLst>
          </p:cNvPr>
          <p:cNvSpPr>
            <a:spLocks noGrp="1"/>
          </p:cNvSpPr>
          <p:nvPr/>
        </p:nvSpPr>
        <p:spPr>
          <a:xfrm>
            <a:off x="2647950" y="64008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jours avant l’événement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A81860-15C0-430A-9F68-C3162DF8276C}"/>
              </a:ext>
            </a:extLst>
          </p:cNvPr>
          <p:cNvSpPr>
            <a:spLocks noGrp="1"/>
          </p:cNvSpPr>
          <p:nvPr/>
        </p:nvSpPr>
        <p:spPr>
          <a:xfrm>
            <a:off x="2647950" y="6724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Préparation &amp; organisation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3A44CF-9524-4EC4-9E85-71FE49864226}"/>
              </a:ext>
            </a:extLst>
          </p:cNvPr>
          <p:cNvSpPr>
            <a:spLocks noGrp="1"/>
          </p:cNvSpPr>
          <p:nvPr/>
        </p:nvSpPr>
        <p:spPr>
          <a:xfrm>
            <a:off x="5524500" y="646747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2 900 €</a:t>
            </a: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11FBBCF9-48B1-4144-86E6-3EC2576359AA}"/>
              </a:ext>
            </a:extLst>
          </p:cNvPr>
          <p:cNvSpPr>
            <a:spLocks noGrp="1"/>
          </p:cNvSpPr>
          <p:nvPr/>
        </p:nvSpPr>
        <p:spPr>
          <a:xfrm>
            <a:off x="666750" y="715327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A753DE1-3875-4224-B62C-FC9A10A149BC}"/>
              </a:ext>
            </a:extLst>
          </p:cNvPr>
          <p:cNvSpPr>
            <a:spLocks noGrp="1"/>
          </p:cNvSpPr>
          <p:nvPr/>
        </p:nvSpPr>
        <p:spPr>
          <a:xfrm>
            <a:off x="838200" y="74580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2FA2D-6CB2-49DB-A3B3-DA61FD3669A0}"/>
              </a:ext>
            </a:extLst>
          </p:cNvPr>
          <p:cNvSpPr>
            <a:spLocks noGrp="1"/>
          </p:cNvSpPr>
          <p:nvPr/>
        </p:nvSpPr>
        <p:spPr>
          <a:xfrm>
            <a:off x="1600200" y="73723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E2CE82-8E6D-4971-A54B-B45E33DA7ED2}"/>
              </a:ext>
            </a:extLst>
          </p:cNvPr>
          <p:cNvSpPr>
            <a:spLocks noGrp="1"/>
          </p:cNvSpPr>
          <p:nvPr/>
        </p:nvSpPr>
        <p:spPr>
          <a:xfrm>
            <a:off x="2647950" y="73342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 jour de l’événement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C707AC-6C2A-4BAD-8833-A3771090711D}"/>
              </a:ext>
            </a:extLst>
          </p:cNvPr>
          <p:cNvSpPr>
            <a:spLocks noGrp="1"/>
          </p:cNvSpPr>
          <p:nvPr/>
        </p:nvSpPr>
        <p:spPr>
          <a:xfrm>
            <a:off x="2647950" y="7658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Solde avant le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74408-4DAC-45D2-B042-4DB3DFB0951E}"/>
              </a:ext>
            </a:extLst>
          </p:cNvPr>
          <p:cNvSpPr>
            <a:spLocks noGrp="1"/>
          </p:cNvSpPr>
          <p:nvPr/>
        </p:nvSpPr>
        <p:spPr>
          <a:xfrm>
            <a:off x="5524500" y="74009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2 175 €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F522444C-90CC-462F-B0B8-07B9E0FC4BDD}"/>
              </a:ext>
            </a:extLst>
          </p:cNvPr>
          <p:cNvSpPr>
            <a:spLocks noGrp="1"/>
          </p:cNvSpPr>
          <p:nvPr/>
        </p:nvSpPr>
        <p:spPr>
          <a:xfrm>
            <a:off x="533400" y="8439150"/>
            <a:ext cx="6496050" cy="971550"/>
          </a:xfrm>
          <a:prstGeom prst="roundRect">
            <a:avLst>
              <a:gd name="adj" fmla="val 14706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5" name="Graphique 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8724900"/>
            <a:ext cx="276225" cy="2762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8B92E35-8DA5-4A10-9608-C0B71CCB3AF9}"/>
              </a:ext>
            </a:extLst>
          </p:cNvPr>
          <p:cNvSpPr>
            <a:spLocks noGrp="1"/>
          </p:cNvSpPr>
          <p:nvPr/>
        </p:nvSpPr>
        <p:spPr>
          <a:xfrm>
            <a:off x="1257300" y="8572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3"/>
          </a:bodyPr>
          <a:lstStyle/>
          <a:p>
            <a:pPr algn="l">
              <a:def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Échéancier calculé sur le total TTC, prestations additionnelles incluses.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878022-1DD6-457B-919B-288CCCB5C1DE}"/>
              </a:ext>
            </a:extLst>
          </p:cNvPr>
          <p:cNvSpPr>
            <a:spLocks noGrp="1"/>
          </p:cNvSpPr>
          <p:nvPr/>
        </p:nvSpPr>
        <p:spPr>
          <a:xfrm>
            <a:off x="1257300" y="88963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rPr>
              <a:t>Paiement par virement bancaire ou espèces selon les modalités convenues.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D7D0F4E-B358-4360-BA13-42F7DD526555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C6B94797-6C56-AFDF-0A04-FE0FB9DA17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22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3FC563F-B56F-4FB6-9CB3-91D999C8C6F4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10F965-701D-4F3B-99E4-FA235FD2B947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C0855-058D-4D57-8D4B-3E3B446F580C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00EF7-B844-4526-A19A-C725611105DE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RÉCAPITULATIF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062D8-B7E6-4592-8286-CAC07E8EF1DE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626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RÉCEPTION PRIVÉE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09BE4F-902D-4C50-9E77-B7EE1FB20D3E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50 convives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393DD44E-BFAB-4B99-9BB4-80DCF2EEBF34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C1DB6-77E2-409C-BCCB-721278AB84C6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5 août 2025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D6F417EF-76B4-4DC0-8C7E-667CA95124A5}"/>
              </a:ext>
            </a:extLst>
          </p:cNvPr>
          <p:cNvSpPr>
            <a:spLocks noGrp="1"/>
          </p:cNvSpPr>
          <p:nvPr/>
        </p:nvSpPr>
        <p:spPr>
          <a:xfrm>
            <a:off x="5391150" y="2076450"/>
            <a:ext cx="0" cy="19050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AEB4A-F2F3-49FB-BA8B-00CDDC7224D0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266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620837-5356-41C5-BB6A-24E3ADF9C3A8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 TRAITEUR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4BFEC69-765F-4E42-85CB-9FF1983357B2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7361C1F-AE26-4026-8789-CD18DF245A53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FF8B8A-B068-48FF-A99D-A8E483E69228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BB94D-E349-4B0C-ACE5-63FBB19520BA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Cocktail dînatoire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5EBA9E-005A-492B-B504-9935EB92FF15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Cocktail chic &amp; raffiné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F06CED-E7BC-41E5-A298-5732AEB7591C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CAD941F-DBA6-4754-9DA6-2E2703FBA046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77C62FC-ABDC-4383-A825-AB7063F714F4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123C76-1057-4273-ABD7-B89DAF7C69D0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9C95B-BA54-4F6F-8F7A-D3EF6547F9E2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Plat chaud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600AB8-3D91-4408-8F94-9033E276183B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Plat chaud &amp; garnitures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A95326-0BC8-40F1-9840-E89F46715816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3 000 €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550A7B2B-CEC5-4281-8FFD-6860A1BE048D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6496050" cy="723900"/>
          </a:xfrm>
          <a:prstGeom prst="roundRect">
            <a:avLst>
              <a:gd name="adj" fmla="val 15789"/>
            </a:avLst>
          </a:prstGeom>
          <a:solidFill>
            <a:srgbClr val="FFFDF8"/>
          </a:solidFill>
          <a:ln w="8096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7CBFFA3-C068-40F0-9EAE-B0FFA123A90E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815197-B422-4E23-80BC-479BAE52F35E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637368-139C-43D0-9516-1D7096BF2BFE}"/>
              </a:ext>
            </a:extLst>
          </p:cNvPr>
          <p:cNvSpPr>
            <a:spLocks noGrp="1"/>
          </p:cNvSpPr>
          <p:nvPr/>
        </p:nvSpPr>
        <p:spPr>
          <a:xfrm>
            <a:off x="1238250" y="45815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Dessert &amp; digestif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710BC3-C31D-4FDC-9190-41621C8AAC54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38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Douceurs fin de repas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8ECD4E-B444-4AE4-96EE-DA8DE5C6173C}"/>
              </a:ext>
            </a:extLst>
          </p:cNvPr>
          <p:cNvSpPr>
            <a:spLocks noGrp="1"/>
          </p:cNvSpPr>
          <p:nvPr/>
        </p:nvSpPr>
        <p:spPr>
          <a:xfrm>
            <a:off x="5219700" y="46482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1 100 €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838C3DA-12ED-4018-B02B-E23993F02863}"/>
              </a:ext>
            </a:extLst>
          </p:cNvPr>
          <p:cNvSpPr>
            <a:spLocks noGrp="1"/>
          </p:cNvSpPr>
          <p:nvPr/>
        </p:nvSpPr>
        <p:spPr>
          <a:xfrm>
            <a:off x="533400" y="541020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0BE2A0-6417-4C34-B6CD-F5EB728753D5}"/>
              </a:ext>
            </a:extLst>
          </p:cNvPr>
          <p:cNvSpPr>
            <a:spLocks noGrp="1"/>
          </p:cNvSpPr>
          <p:nvPr/>
        </p:nvSpPr>
        <p:spPr>
          <a:xfrm>
            <a:off x="733425" y="541020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SOUS-TOTAL ÉVÉNEMENT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675ACD-7F98-4C56-B111-F06D84353F16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1628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5 700 €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8AF27A-9CB7-4563-8233-823DD24C9344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PRESTATIONS ADDITIONNELLES RETENUES</a:t>
            </a:r>
          </a:p>
        </p:txBody>
      </p:sp>
      <p:pic>
        <p:nvPicPr>
          <p:cNvPr id="93" name="Graphique 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325" y="6515100"/>
            <a:ext cx="238125" cy="23812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6D46D4F-3CF0-4400-87E0-8533B82652C8}"/>
              </a:ext>
            </a:extLst>
          </p:cNvPr>
          <p:cNvSpPr>
            <a:spLocks noGrp="1"/>
          </p:cNvSpPr>
          <p:nvPr/>
        </p:nvSpPr>
        <p:spPr>
          <a:xfrm>
            <a:off x="1104900" y="64008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Service &amp; personnel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BA1B76-6BFF-4544-A78B-D4B801568535}"/>
              </a:ext>
            </a:extLst>
          </p:cNvPr>
          <p:cNvSpPr>
            <a:spLocks noGrp="1"/>
          </p:cNvSpPr>
          <p:nvPr/>
        </p:nvSpPr>
        <p:spPr>
          <a:xfrm>
            <a:off x="1104900" y="666750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serveurs · vacation de 6 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1BF550-EA2B-47CA-84AC-D4A550CCE48F}"/>
              </a:ext>
            </a:extLst>
          </p:cNvPr>
          <p:cNvSpPr>
            <a:spLocks noGrp="1"/>
          </p:cNvSpPr>
          <p:nvPr/>
        </p:nvSpPr>
        <p:spPr>
          <a:xfrm>
            <a:off x="5476875" y="64579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900 €</a:t>
            </a:r>
          </a:p>
        </p:txBody>
      </p:sp>
      <p:sp>
        <p:nvSpPr>
          <p:cNvPr id="40" name="Connecteur droit 39">
            <a:extLst>
              <a:ext uri="{FF2B5EF4-FFF2-40B4-BE49-F238E27FC236}">
                <a16:creationId xmlns:a16="http://schemas.microsoft.com/office/drawing/2014/main" id="{82C5310C-C740-428E-9AE8-99CEAED73C63}"/>
              </a:ext>
            </a:extLst>
          </p:cNvPr>
          <p:cNvSpPr>
            <a:spLocks noGrp="1"/>
          </p:cNvSpPr>
          <p:nvPr/>
        </p:nvSpPr>
        <p:spPr>
          <a:xfrm>
            <a:off x="1104900" y="6953250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8" name="Graphique 9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5325" y="7172325"/>
            <a:ext cx="238125" cy="2381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DD0E3B3-34A1-4593-9B8A-AF362F4F249B}"/>
              </a:ext>
            </a:extLst>
          </p:cNvPr>
          <p:cNvSpPr>
            <a:spLocks noGrp="1"/>
          </p:cNvSpPr>
          <p:nvPr/>
        </p:nvSpPr>
        <p:spPr>
          <a:xfrm>
            <a:off x="1104900" y="7058025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Location de matériel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75E2B9-079C-4364-B5F5-3F62D1373E9B}"/>
              </a:ext>
            </a:extLst>
          </p:cNvPr>
          <p:cNvSpPr>
            <a:spLocks noGrp="1"/>
          </p:cNvSpPr>
          <p:nvPr/>
        </p:nvSpPr>
        <p:spPr>
          <a:xfrm>
            <a:off x="1104900" y="7324725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80 couverts · 10 tables · 80 chaises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DA1BDA-2D7D-470F-9757-92105521B44D}"/>
              </a:ext>
            </a:extLst>
          </p:cNvPr>
          <p:cNvSpPr>
            <a:spLocks noGrp="1"/>
          </p:cNvSpPr>
          <p:nvPr/>
        </p:nvSpPr>
        <p:spPr>
          <a:xfrm>
            <a:off x="5476875" y="71151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450 €</a:t>
            </a:r>
          </a:p>
        </p:txBody>
      </p:sp>
      <p:sp>
        <p:nvSpPr>
          <p:cNvPr id="45" name="Connecteur droit 44">
            <a:extLst>
              <a:ext uri="{FF2B5EF4-FFF2-40B4-BE49-F238E27FC236}">
                <a16:creationId xmlns:a16="http://schemas.microsoft.com/office/drawing/2014/main" id="{F2BFB15C-F6DC-4653-BB3D-26956EF3321E}"/>
              </a:ext>
            </a:extLst>
          </p:cNvPr>
          <p:cNvSpPr>
            <a:spLocks noGrp="1"/>
          </p:cNvSpPr>
          <p:nvPr/>
        </p:nvSpPr>
        <p:spPr>
          <a:xfrm>
            <a:off x="1104900" y="7610475"/>
            <a:ext cx="5619750" cy="0"/>
          </a:xfrm>
          <a:prstGeom prst="line">
            <a:avLst/>
          </a:prstGeom>
          <a:noFill/>
          <a:ln w="6191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C04137-80E3-4E8C-8664-156E935FC823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388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Décoration de table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09BC8F-2F7B-4A51-A369-D23C1C98508D}"/>
              </a:ext>
            </a:extLst>
          </p:cNvPr>
          <p:cNvSpPr>
            <a:spLocks noGrp="1"/>
          </p:cNvSpPr>
          <p:nvPr/>
        </p:nvSpPr>
        <p:spPr>
          <a:xfrm>
            <a:off x="1104900" y="7981950"/>
            <a:ext cx="423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10 </a:t>
            </a:r>
            <a:r>
              <a:rPr sz="1163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centres</a:t>
            </a: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de table · fleurs </a:t>
            </a:r>
            <a:r>
              <a:rPr sz="1163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fraîches</a:t>
            </a:r>
            <a:r>
              <a:rPr sz="1163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&amp; bougies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9A0F34-89D1-41B5-B53E-F2C5B5F48F1D}"/>
              </a:ext>
            </a:extLst>
          </p:cNvPr>
          <p:cNvSpPr>
            <a:spLocks noGrp="1"/>
          </p:cNvSpPr>
          <p:nvPr/>
        </p:nvSpPr>
        <p:spPr>
          <a:xfrm>
            <a:off x="5476875" y="77724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250 €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FCA8C62C-BD80-4FEF-A90B-5D7B6D6889C8}"/>
              </a:ext>
            </a:extLst>
          </p:cNvPr>
          <p:cNvSpPr>
            <a:spLocks noGrp="1"/>
          </p:cNvSpPr>
          <p:nvPr/>
        </p:nvSpPr>
        <p:spPr>
          <a:xfrm>
            <a:off x="533400" y="8401050"/>
            <a:ext cx="6496050" cy="428625"/>
          </a:xfrm>
          <a:prstGeom prst="roundRect">
            <a:avLst>
              <a:gd name="adj" fmla="val 24444"/>
            </a:avLst>
          </a:prstGeom>
          <a:solidFill>
            <a:srgbClr val="FFFDF8"/>
          </a:solidFill>
          <a:ln w="10478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34DFE8-28FD-4E21-96D8-E7E41D6AA050}"/>
              </a:ext>
            </a:extLst>
          </p:cNvPr>
          <p:cNvSpPr>
            <a:spLocks noGrp="1"/>
          </p:cNvSpPr>
          <p:nvPr/>
        </p:nvSpPr>
        <p:spPr>
          <a:xfrm>
            <a:off x="733425" y="84010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16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SOUS-TOTAL PRESTATIONS ADDITIONNELLES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24F4D-B19A-435F-80D0-713623BD6FA1}"/>
              </a:ext>
            </a:extLst>
          </p:cNvPr>
          <p:cNvSpPr>
            <a:spLocks noGrp="1"/>
          </p:cNvSpPr>
          <p:nvPr/>
        </p:nvSpPr>
        <p:spPr>
          <a:xfrm>
            <a:off x="5476875" y="8401050"/>
            <a:ext cx="12477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1 600 €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D344B598-19B6-4D0D-9937-478B2A14F71C}"/>
              </a:ext>
            </a:extLst>
          </p:cNvPr>
          <p:cNvSpPr>
            <a:spLocks noGrp="1"/>
          </p:cNvSpPr>
          <p:nvPr/>
        </p:nvSpPr>
        <p:spPr>
          <a:xfrm>
            <a:off x="533400" y="9001125"/>
            <a:ext cx="6496050" cy="838200"/>
          </a:xfrm>
          <a:prstGeom prst="roundRect">
            <a:avLst>
              <a:gd name="adj" fmla="val 17045"/>
            </a:avLst>
          </a:prstGeom>
          <a:solidFill>
            <a:srgbClr val="062B20"/>
          </a:solidFill>
          <a:ln w="9525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8D9E8D-4907-40C5-860A-7CFD6558E459}"/>
              </a:ext>
            </a:extLst>
          </p:cNvPr>
          <p:cNvSpPr>
            <a:spLocks noGrp="1"/>
          </p:cNvSpPr>
          <p:nvPr/>
        </p:nvSpPr>
        <p:spPr>
          <a:xfrm>
            <a:off x="752475" y="9086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D7B36D"/>
                </a:solidFill>
                <a:latin typeface="Montserrat"/>
                <a:ea typeface="Montserrat"/>
                <a:cs typeface="Montserrat"/>
              </a:rPr>
              <a:t>TOTAL TTC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D03D7A-8B12-46E2-BDE4-DD0520C3832E}"/>
              </a:ext>
            </a:extLst>
          </p:cNvPr>
          <p:cNvSpPr>
            <a:spLocks noGrp="1"/>
          </p:cNvSpPr>
          <p:nvPr/>
        </p:nvSpPr>
        <p:spPr>
          <a:xfrm>
            <a:off x="752475" y="9363075"/>
            <a:ext cx="3381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12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Événement + prestations additionnelles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A44683-72B5-4822-BE9A-6F3E9D8E13A0}"/>
              </a:ext>
            </a:extLst>
          </p:cNvPr>
          <p:cNvSpPr>
            <a:spLocks noGrp="1"/>
          </p:cNvSpPr>
          <p:nvPr/>
        </p:nvSpPr>
        <p:spPr>
          <a:xfrm>
            <a:off x="4305300" y="9105900"/>
            <a:ext cx="2409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7 300 €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0AD6AE6B-0066-4B18-B3A4-69A5D35DC63E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9457ACC-45F5-5560-78C9-7156DA6041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  <p:pic>
        <p:nvPicPr>
          <p:cNvPr id="7" name="Graphique 6" descr="Couronne festive avec un remplissage uni">
            <a:extLst>
              <a:ext uri="{FF2B5EF4-FFF2-40B4-BE49-F238E27FC236}">
                <a16:creationId xmlns:a16="http://schemas.microsoft.com/office/drawing/2014/main" id="{8A14F7F7-387C-821F-0C7C-D84FBC5436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95325" y="7829550"/>
            <a:ext cx="238125" cy="238125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ECDE21AD-EEB8-4661-BF57-129F42F50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62037" y="2047875"/>
            <a:ext cx="2381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31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0F6EC19-30E0-4978-BCC4-27019722A61F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F9FAA2-05F9-4B9C-9113-D17CF6E9200A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C5957-63B9-496C-AB0C-99A3B98F0187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3C34C-5BC3-4EF5-8A4B-62D8D575658A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661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ACOMPTE &amp; ÉCHÉANCIER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045EC-4589-4A62-9F87-5520414368CC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626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RÉCEPTION PRIVÉE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AD80A70-BB48-40DF-99DF-8A325FDEE590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496050" cy="219075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9C96F-B69C-4FA2-8506-C266E044892C}"/>
              </a:ext>
            </a:extLst>
          </p:cNvPr>
          <p:cNvSpPr>
            <a:spLocks noGrp="1"/>
          </p:cNvSpPr>
          <p:nvPr/>
        </p:nvSpPr>
        <p:spPr>
          <a:xfrm>
            <a:off x="752475" y="2324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TOTAL TTC DE L’ÉVÉNEMENT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7CA456-EB48-4EDF-9246-B0706B07F914}"/>
              </a:ext>
            </a:extLst>
          </p:cNvPr>
          <p:cNvSpPr>
            <a:spLocks noGrp="1"/>
          </p:cNvSpPr>
          <p:nvPr/>
        </p:nvSpPr>
        <p:spPr>
          <a:xfrm>
            <a:off x="752475" y="2609850"/>
            <a:ext cx="3143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7 300 €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26A53-1FA2-4CDA-8117-7A78BB1247C2}"/>
              </a:ext>
            </a:extLst>
          </p:cNvPr>
          <p:cNvSpPr>
            <a:spLocks noGrp="1"/>
          </p:cNvSpPr>
          <p:nvPr/>
        </p:nvSpPr>
        <p:spPr>
          <a:xfrm>
            <a:off x="771525" y="33147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5 700 €  événement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604779-D758-4F1C-9861-A6AE05CDB188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+ 1 600 €  prestations additionnelles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E6F0B2AD-0D10-4D8A-BC2B-5632625F5463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0" cy="1714500"/>
          </a:xfrm>
          <a:prstGeom prst="line">
            <a:avLst/>
          </a:prstGeom>
          <a:noFill/>
          <a:ln w="1047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D380A8-F9C1-473F-84AD-BE22DC2FC23F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ACOMPTE À LA RÉSERVATION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F1D370-6301-4149-8018-21D323D17F2A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819B48-64E7-4780-88AB-2B9F87CF52D4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2428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C1834-BF4A-4E51-96F5-6EB799B0E1EA}"/>
              </a:ext>
            </a:extLst>
          </p:cNvPr>
          <p:cNvSpPr>
            <a:spLocks noGrp="1"/>
          </p:cNvSpPr>
          <p:nvPr/>
        </p:nvSpPr>
        <p:spPr>
          <a:xfrm>
            <a:off x="4267200" y="36004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23B11-F2E0-495F-877C-12665AD38331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0A3D2D"/>
                </a:solidFill>
                <a:latin typeface="Montserrat"/>
                <a:ea typeface="Montserrat"/>
                <a:cs typeface="Montserrat"/>
              </a:rPr>
              <a:t>ÉCHÉANCIER DE PAIEMENT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436E21-7C54-4C91-80E8-957F70086514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ÉTAPE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31CFA5-B678-41EE-BD7C-5CD4F8B90D06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7E8AC-A637-4E35-82BA-87EF2A85EFF0}"/>
              </a:ext>
            </a:extLst>
          </p:cNvPr>
          <p:cNvSpPr>
            <a:spLocks noGrp="1"/>
          </p:cNvSpPr>
          <p:nvPr/>
        </p:nvSpPr>
        <p:spPr>
          <a:xfrm>
            <a:off x="26479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ÉCHÉANCE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772AA0-F765-4A30-8789-1E7CDA0AF4CA}"/>
              </a:ext>
            </a:extLst>
          </p:cNvPr>
          <p:cNvSpPr>
            <a:spLocks noGrp="1"/>
          </p:cNvSpPr>
          <p:nvPr/>
        </p:nvSpPr>
        <p:spPr>
          <a:xfrm>
            <a:off x="5562600" y="50292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93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MONTANT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60FB46BD-EC33-4B11-818E-E695F7D2DCCD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05790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50865EC-5EFA-4AD8-AD35-F79A7E267221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89158D-128B-440A-9AC3-EE4EE4A5AA3B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8DEBE9-BF05-4211-85DD-7679DC985D75}"/>
              </a:ext>
            </a:extLst>
          </p:cNvPr>
          <p:cNvSpPr>
            <a:spLocks noGrp="1"/>
          </p:cNvSpPr>
          <p:nvPr/>
        </p:nvSpPr>
        <p:spPr>
          <a:xfrm>
            <a:off x="2647950" y="54673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la réservation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BE239A-783E-4E17-8AF0-49AC7C4C13AD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À la signature du devis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090F55-C876-47D1-BD3D-4BAA395BAAF8}"/>
              </a:ext>
            </a:extLst>
          </p:cNvPr>
          <p:cNvSpPr>
            <a:spLocks noGrp="1"/>
          </p:cNvSpPr>
          <p:nvPr/>
        </p:nvSpPr>
        <p:spPr>
          <a:xfrm>
            <a:off x="5524500" y="5534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BB896CCA-8D26-4040-8C1C-9537D470E327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EBAEE70-5B91-4C58-BD86-45EE5FB93951}"/>
              </a:ext>
            </a:extLst>
          </p:cNvPr>
          <p:cNvSpPr>
            <a:spLocks noGrp="1"/>
          </p:cNvSpPr>
          <p:nvPr/>
        </p:nvSpPr>
        <p:spPr>
          <a:xfrm>
            <a:off x="838200" y="652462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F4C526-578C-4A11-AE87-6B8BF5B95834}"/>
              </a:ext>
            </a:extLst>
          </p:cNvPr>
          <p:cNvSpPr>
            <a:spLocks noGrp="1"/>
          </p:cNvSpPr>
          <p:nvPr/>
        </p:nvSpPr>
        <p:spPr>
          <a:xfrm>
            <a:off x="1600200" y="64389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40 %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C57A19-84C6-4602-BB4C-AC6583914397}"/>
              </a:ext>
            </a:extLst>
          </p:cNvPr>
          <p:cNvSpPr>
            <a:spLocks noGrp="1"/>
          </p:cNvSpPr>
          <p:nvPr/>
        </p:nvSpPr>
        <p:spPr>
          <a:xfrm>
            <a:off x="2647950" y="64008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30 jours avant l’événement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9288EA-FC25-4022-B213-F716F8026575}"/>
              </a:ext>
            </a:extLst>
          </p:cNvPr>
          <p:cNvSpPr>
            <a:spLocks noGrp="1"/>
          </p:cNvSpPr>
          <p:nvPr/>
        </p:nvSpPr>
        <p:spPr>
          <a:xfrm>
            <a:off x="2647950" y="6724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Préparation &amp; organisation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8B2BB3-0A3D-4E6E-9D79-A10A9822DE5D}"/>
              </a:ext>
            </a:extLst>
          </p:cNvPr>
          <p:cNvSpPr>
            <a:spLocks noGrp="1"/>
          </p:cNvSpPr>
          <p:nvPr/>
        </p:nvSpPr>
        <p:spPr>
          <a:xfrm>
            <a:off x="5524500" y="646747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2 920 €</a:t>
            </a: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8F73C879-9F50-4BFA-B070-91EB98FF4FA9}"/>
              </a:ext>
            </a:extLst>
          </p:cNvPr>
          <p:cNvSpPr>
            <a:spLocks noGrp="1"/>
          </p:cNvSpPr>
          <p:nvPr/>
        </p:nvSpPr>
        <p:spPr>
          <a:xfrm>
            <a:off x="666750" y="7153275"/>
            <a:ext cx="6057900" cy="0"/>
          </a:xfrm>
          <a:prstGeom prst="line">
            <a:avLst/>
          </a:prstGeom>
          <a:noFill/>
          <a:ln w="6668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2595EA0-1E50-453C-AA38-95010BE56448}"/>
              </a:ext>
            </a:extLst>
          </p:cNvPr>
          <p:cNvSpPr>
            <a:spLocks noGrp="1"/>
          </p:cNvSpPr>
          <p:nvPr/>
        </p:nvSpPr>
        <p:spPr>
          <a:xfrm>
            <a:off x="838200" y="7458075"/>
            <a:ext cx="428625" cy="428625"/>
          </a:xfrm>
          <a:prstGeom prst="ellipse">
            <a:avLst/>
          </a:prstGeom>
          <a:solidFill>
            <a:srgbClr val="FFFDF8"/>
          </a:solidFill>
          <a:ln w="15240">
            <a:solidFill>
              <a:srgbClr val="C99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E490FC-95D2-4BE5-B4FA-4387FD59CAB6}"/>
              </a:ext>
            </a:extLst>
          </p:cNvPr>
          <p:cNvSpPr>
            <a:spLocks noGrp="1"/>
          </p:cNvSpPr>
          <p:nvPr/>
        </p:nvSpPr>
        <p:spPr>
          <a:xfrm>
            <a:off x="1600200" y="73723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30 %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1BE0F7-9957-4B32-8D52-76371C6759E4}"/>
              </a:ext>
            </a:extLst>
          </p:cNvPr>
          <p:cNvSpPr>
            <a:spLocks noGrp="1"/>
          </p:cNvSpPr>
          <p:nvPr/>
        </p:nvSpPr>
        <p:spPr>
          <a:xfrm>
            <a:off x="2647950" y="733425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50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Le jour de l’événement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5C5ED8-7228-4409-B424-23CD0C42693E}"/>
              </a:ext>
            </a:extLst>
          </p:cNvPr>
          <p:cNvSpPr>
            <a:spLocks noGrp="1"/>
          </p:cNvSpPr>
          <p:nvPr/>
        </p:nvSpPr>
        <p:spPr>
          <a:xfrm>
            <a:off x="2647950" y="7658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Solde avant le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09D4F5-9CB2-412B-896E-6AD3735C827C}"/>
              </a:ext>
            </a:extLst>
          </p:cNvPr>
          <p:cNvSpPr>
            <a:spLocks noGrp="1"/>
          </p:cNvSpPr>
          <p:nvPr/>
        </p:nvSpPr>
        <p:spPr>
          <a:xfrm>
            <a:off x="5524500" y="74009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2 190 €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4716D530-810B-42C3-9BB5-0AD5D5CE022E}"/>
              </a:ext>
            </a:extLst>
          </p:cNvPr>
          <p:cNvSpPr>
            <a:spLocks noGrp="1"/>
          </p:cNvSpPr>
          <p:nvPr/>
        </p:nvSpPr>
        <p:spPr>
          <a:xfrm>
            <a:off x="533400" y="8439150"/>
            <a:ext cx="6496050" cy="971550"/>
          </a:xfrm>
          <a:prstGeom prst="roundRect">
            <a:avLst>
              <a:gd name="adj" fmla="val 14706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5" name="Graphique 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8724900"/>
            <a:ext cx="276225" cy="27622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B104F64-6144-4AEB-BA5E-A157EEB6AAF6}"/>
              </a:ext>
            </a:extLst>
          </p:cNvPr>
          <p:cNvSpPr>
            <a:spLocks noGrp="1"/>
          </p:cNvSpPr>
          <p:nvPr/>
        </p:nvSpPr>
        <p:spPr>
          <a:xfrm>
            <a:off x="1257300" y="85725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3"/>
          </a:bodyPr>
          <a:lstStyle/>
          <a:p>
            <a:pPr algn="l">
              <a:def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238" b="1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Échéancier calculé sur le total TTC, prestations additionnelles incluses.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2770D-66DA-48E1-BE1D-54419183F8C6}"/>
              </a:ext>
            </a:extLst>
          </p:cNvPr>
          <p:cNvSpPr>
            <a:spLocks noGrp="1"/>
          </p:cNvSpPr>
          <p:nvPr/>
        </p:nvSpPr>
        <p:spPr>
          <a:xfrm>
            <a:off x="1257300" y="88963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4EAD6"/>
                </a:solidFill>
                <a:latin typeface="Raleway"/>
                <a:ea typeface="Raleway"/>
                <a:cs typeface="Raleway"/>
              </a:rPr>
              <a:t>Paiement par virement bancaire ou espèces selon les modalités convenues.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DEA41AC-EF92-4935-B39D-AF5D89AB77BF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02315EE-0A3B-250E-CD3D-79B8D9D73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01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755E740-D5F6-4F6B-8AA5-BFC685AFC11A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5D1955-2E5B-4CC2-A878-41F0334F7199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16F7-BE50-4B9C-BA80-C357C821B5AC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29CBB-315D-4DFB-8092-EFCEF724AEA1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6229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MENTIONS LÉGALES</a:t>
            </a:r>
          </a:p>
          <a:p>
            <a:pPr algn="ctr">
              <a:def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&amp; PRATIQUES</a:t>
            </a:r>
          </a:p>
        </p:txBody>
      </p:sp>
      <p:pic>
        <p:nvPicPr>
          <p:cNvPr id="34" name="Graphique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57250" y="2324100"/>
            <a:ext cx="257175" cy="2571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DE3605-C54C-4530-AA76-55B77E1CD6EC}"/>
              </a:ext>
            </a:extLst>
          </p:cNvPr>
          <p:cNvSpPr>
            <a:spLocks noGrp="1"/>
          </p:cNvSpPr>
          <p:nvPr/>
        </p:nvSpPr>
        <p:spPr>
          <a:xfrm>
            <a:off x="1381125" y="2190750"/>
            <a:ext cx="5286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Validité du devis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4E5DAD-E829-4EF2-83B1-E1624228A3C3}"/>
              </a:ext>
            </a:extLst>
          </p:cNvPr>
          <p:cNvSpPr>
            <a:spLocks noGrp="1"/>
          </p:cNvSpPr>
          <p:nvPr/>
        </p:nvSpPr>
        <p:spPr>
          <a:xfrm>
            <a:off x="1381125" y="2486025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Ce devis est valable 30 jours</a:t>
            </a:r>
          </a:p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à compter de la date d’émission.</a:t>
            </a:r>
          </a:p>
        </p:txBody>
      </p:sp>
      <p:pic>
        <p:nvPicPr>
          <p:cNvPr id="37" name="Graphique 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57250" y="3543300"/>
            <a:ext cx="257175" cy="2571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90FCEF-ECBC-48D5-BDA2-90CEDE357E94}"/>
              </a:ext>
            </a:extLst>
          </p:cNvPr>
          <p:cNvSpPr>
            <a:spLocks noGrp="1"/>
          </p:cNvSpPr>
          <p:nvPr/>
        </p:nvSpPr>
        <p:spPr>
          <a:xfrm>
            <a:off x="1381125" y="3409950"/>
            <a:ext cx="5286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Modification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E3B80F-D997-44B7-B8A1-301F228813D0}"/>
              </a:ext>
            </a:extLst>
          </p:cNvPr>
          <p:cNvSpPr>
            <a:spLocks noGrp="1"/>
          </p:cNvSpPr>
          <p:nvPr/>
        </p:nvSpPr>
        <p:spPr>
          <a:xfrm>
            <a:off x="1381125" y="3705225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Toute modification du nombre de convives</a:t>
            </a:r>
          </a:p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peut entraîner une révision du devis.</a:t>
            </a:r>
          </a:p>
        </p:txBody>
      </p:sp>
      <p:pic>
        <p:nvPicPr>
          <p:cNvPr id="40" name="Graphique 3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57250" y="4762500"/>
            <a:ext cx="257175" cy="257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0670E5-18D8-4976-B86B-4627074AEF5F}"/>
              </a:ext>
            </a:extLst>
          </p:cNvPr>
          <p:cNvSpPr>
            <a:spLocks noGrp="1"/>
          </p:cNvSpPr>
          <p:nvPr/>
        </p:nvSpPr>
        <p:spPr>
          <a:xfrm>
            <a:off x="1381125" y="4629150"/>
            <a:ext cx="5286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Annulation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DC9F08-9419-4C48-8B30-C0FDE7662C8A}"/>
              </a:ext>
            </a:extLst>
          </p:cNvPr>
          <p:cNvSpPr>
            <a:spLocks noGrp="1"/>
          </p:cNvSpPr>
          <p:nvPr/>
        </p:nvSpPr>
        <p:spPr>
          <a:xfrm>
            <a:off x="1381125" y="4924425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Plus de 15 jours avant l’événement : remboursement</a:t>
            </a:r>
          </a:p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de l’acompte à 50%. Moins de 15 jours : non remboursable.</a:t>
            </a:r>
          </a:p>
        </p:txBody>
      </p:sp>
      <p:pic>
        <p:nvPicPr>
          <p:cNvPr id="43" name="Graphique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57250" y="5981700"/>
            <a:ext cx="257175" cy="2571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44FDD7-3E85-4FD6-A8DE-020E9CEC5175}"/>
              </a:ext>
            </a:extLst>
          </p:cNvPr>
          <p:cNvSpPr>
            <a:spLocks noGrp="1"/>
          </p:cNvSpPr>
          <p:nvPr/>
        </p:nvSpPr>
        <p:spPr>
          <a:xfrm>
            <a:off x="1381125" y="5848350"/>
            <a:ext cx="5286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Allergies &amp; régimes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A5FCFB-CAEA-4C57-A14A-7B67EF17C8E1}"/>
              </a:ext>
            </a:extLst>
          </p:cNvPr>
          <p:cNvSpPr>
            <a:spLocks noGrp="1"/>
          </p:cNvSpPr>
          <p:nvPr/>
        </p:nvSpPr>
        <p:spPr>
          <a:xfrm>
            <a:off x="1381125" y="6143625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Merci de nous informer de toute allergie</a:t>
            </a:r>
          </a:p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ou régime particulier à l’avance.</a:t>
            </a:r>
          </a:p>
        </p:txBody>
      </p:sp>
      <p:pic>
        <p:nvPicPr>
          <p:cNvPr id="46" name="Graphique 4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57250" y="7200900"/>
            <a:ext cx="257175" cy="25717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252606-0490-4E3B-B346-B404992B2F98}"/>
              </a:ext>
            </a:extLst>
          </p:cNvPr>
          <p:cNvSpPr>
            <a:spLocks noGrp="1"/>
          </p:cNvSpPr>
          <p:nvPr/>
        </p:nvSpPr>
        <p:spPr>
          <a:xfrm>
            <a:off x="1381125" y="7067550"/>
            <a:ext cx="5286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425" b="1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Conditions générales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001151-C537-40D7-8724-6C10FE1DDC97}"/>
              </a:ext>
            </a:extLst>
          </p:cNvPr>
          <p:cNvSpPr>
            <a:spLocks noGrp="1"/>
          </p:cNvSpPr>
          <p:nvPr/>
        </p:nvSpPr>
        <p:spPr>
          <a:xfrm>
            <a:off x="1381125" y="7362825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Nos conditions générales de vente</a:t>
            </a:r>
          </a:p>
          <a:p>
            <a:pPr algn="l">
              <a:def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200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sont disponibles sur demande.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77893AD-DA87-4EC2-A1F4-28CA33BE1FD1}"/>
              </a:ext>
            </a:extLst>
          </p:cNvPr>
          <p:cNvSpPr>
            <a:spLocks noGrp="1"/>
          </p:cNvSpPr>
          <p:nvPr/>
        </p:nvSpPr>
        <p:spPr>
          <a:xfrm>
            <a:off x="581025" y="8391525"/>
            <a:ext cx="6400800" cy="1095375"/>
          </a:xfrm>
          <a:prstGeom prst="roundRect">
            <a:avLst>
              <a:gd name="adj" fmla="val 14783"/>
            </a:avLst>
          </a:prstGeom>
          <a:solidFill>
            <a:srgbClr val="0A3D2D"/>
          </a:solidFill>
          <a:ln w="0">
            <a:solidFill>
              <a:srgbClr val="0A3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0" name="Graphique 4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38200" y="8553450"/>
            <a:ext cx="171450" cy="1714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917D3AA-79D4-410B-BC71-CC273ABA6716}"/>
              </a:ext>
            </a:extLst>
          </p:cNvPr>
          <p:cNvSpPr>
            <a:spLocks noGrp="1"/>
          </p:cNvSpPr>
          <p:nvPr/>
        </p:nvSpPr>
        <p:spPr>
          <a:xfrm>
            <a:off x="1114425" y="8515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+33 6 12 34 56 78</a:t>
            </a:r>
          </a:p>
        </p:txBody>
      </p:sp>
      <p:pic>
        <p:nvPicPr>
          <p:cNvPr id="52" name="Graphique 51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838200" y="8867775"/>
            <a:ext cx="171450" cy="1714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B69B1F5-0C1B-4113-B121-856E0ADCC05C}"/>
              </a:ext>
            </a:extLst>
          </p:cNvPr>
          <p:cNvSpPr>
            <a:spLocks noGrp="1"/>
          </p:cNvSpPr>
          <p:nvPr/>
        </p:nvSpPr>
        <p:spPr>
          <a:xfrm>
            <a:off x="1114425" y="88296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contact@clctraiteur.fr</a:t>
            </a:r>
          </a:p>
        </p:txBody>
      </p:sp>
      <p:pic>
        <p:nvPicPr>
          <p:cNvPr id="54" name="Graphique 53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857250" y="9182100"/>
            <a:ext cx="152400" cy="1714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00F2871-B7E1-4088-91A0-25C2A91A2859}"/>
              </a:ext>
            </a:extLst>
          </p:cNvPr>
          <p:cNvSpPr>
            <a:spLocks noGrp="1"/>
          </p:cNvSpPr>
          <p:nvPr/>
        </p:nvSpPr>
        <p:spPr>
          <a:xfrm>
            <a:off x="1114425" y="9144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defRPr>
            </a:pPr>
            <a:r>
              <a:rPr sz="1275" b="0" i="0">
                <a:solidFill>
                  <a:srgbClr val="FFFDF8"/>
                </a:solidFill>
                <a:latin typeface="Raleway"/>
                <a:ea typeface="Raleway"/>
                <a:cs typeface="Raleway"/>
              </a:rPr>
              <a:t>Rouen, France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D368969-B136-4D9F-B8A8-02F86C46CDFA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83B8070-1B07-EA19-4C2B-3556C7F4EE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49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61327196-3E32-4139-BB1F-EECE5F7712AD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2BF62-F1FC-48B2-9C5B-4D37D4B9395F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7F83F-84B5-403C-AA02-D13318AA5A2F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2FA5A-5DE9-4E52-933B-28FA95807382}"/>
              </a:ext>
            </a:extLst>
          </p:cNvPr>
          <p:cNvSpPr>
            <a:spLocks noGrp="1"/>
          </p:cNvSpPr>
          <p:nvPr/>
        </p:nvSpPr>
        <p:spPr>
          <a:xfrm>
            <a:off x="781050" y="981075"/>
            <a:ext cx="600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ACCORD &amp; SIGNATURE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9AFE4-4512-49A8-B5C7-8E760BE07288}"/>
              </a:ext>
            </a:extLst>
          </p:cNvPr>
          <p:cNvSpPr>
            <a:spLocks noGrp="1"/>
          </p:cNvSpPr>
          <p:nvPr/>
        </p:nvSpPr>
        <p:spPr>
          <a:xfrm>
            <a:off x="2381250" y="16383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8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defRPr>
            </a:pPr>
            <a:r>
              <a:rPr sz="1088" b="1" i="0">
                <a:solidFill>
                  <a:srgbClr val="C99A43"/>
                </a:solidFill>
                <a:latin typeface="Montserrat"/>
                <a:ea typeface="Montserrat"/>
                <a:cs typeface="Montserrat"/>
              </a:rPr>
              <a:t>BON POUR ACCORD</a:t>
            </a: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9A20844D-2B3F-4CA2-AC32-21878F796EB4}"/>
              </a:ext>
            </a:extLst>
          </p:cNvPr>
          <p:cNvSpPr>
            <a:spLocks noGrp="1"/>
          </p:cNvSpPr>
          <p:nvPr/>
        </p:nvSpPr>
        <p:spPr>
          <a:xfrm>
            <a:off x="1828800" y="1781175"/>
            <a:ext cx="457200" cy="0"/>
          </a:xfrm>
          <a:prstGeom prst="line">
            <a:avLst/>
          </a:prstGeom>
          <a:noFill/>
          <a:ln w="11430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6EF02368-FA80-4200-A54F-AF38AA22E49C}"/>
              </a:ext>
            </a:extLst>
          </p:cNvPr>
          <p:cNvSpPr>
            <a:spLocks noGrp="1"/>
          </p:cNvSpPr>
          <p:nvPr/>
        </p:nvSpPr>
        <p:spPr>
          <a:xfrm>
            <a:off x="5276850" y="1781175"/>
            <a:ext cx="457200" cy="0"/>
          </a:xfrm>
          <a:prstGeom prst="line">
            <a:avLst/>
          </a:prstGeom>
          <a:noFill/>
          <a:ln w="11430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63E24-156B-461F-A6F3-96D74FDB7731}"/>
              </a:ext>
            </a:extLst>
          </p:cNvPr>
          <p:cNvSpPr>
            <a:spLocks noGrp="1"/>
          </p:cNvSpPr>
          <p:nvPr/>
        </p:nvSpPr>
        <p:spPr>
          <a:xfrm>
            <a:off x="819150" y="2057400"/>
            <a:ext cx="59245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13" b="0" i="0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313" b="0" i="0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En signant ci-dessous, le client confirme son accord sur le présent devis, ses prestations retenues, ses échéanciers et les conditions générales de vente.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770E1AC-0ADB-41ED-B7F7-422F1A75F6F7}"/>
              </a:ext>
            </a:extLst>
          </p:cNvPr>
          <p:cNvSpPr>
            <a:spLocks noGrp="1"/>
          </p:cNvSpPr>
          <p:nvPr/>
        </p:nvSpPr>
        <p:spPr>
          <a:xfrm>
            <a:off x="542925" y="3009900"/>
            <a:ext cx="3162300" cy="2705100"/>
          </a:xfrm>
          <a:prstGeom prst="roundRect">
            <a:avLst>
              <a:gd name="adj" fmla="val 5634"/>
            </a:avLst>
          </a:prstGeom>
          <a:solidFill>
            <a:srgbClr val="FFFDF8"/>
          </a:solidFill>
          <a:ln w="11906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33805F2-FD2C-4FFA-99EE-42146B4BAE02}"/>
              </a:ext>
            </a:extLst>
          </p:cNvPr>
          <p:cNvSpPr>
            <a:spLocks noGrp="1"/>
          </p:cNvSpPr>
          <p:nvPr/>
        </p:nvSpPr>
        <p:spPr>
          <a:xfrm>
            <a:off x="542925" y="3009900"/>
            <a:ext cx="3162300" cy="504825"/>
          </a:xfrm>
          <a:prstGeom prst="roundRect">
            <a:avLst>
              <a:gd name="adj" fmla="val 30189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E9D06-2A36-4071-B8E8-11680F58FA42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686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POUR LE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D53179-3FC2-40B3-8CA6-1CFC4933A47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143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Nom / Société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717E0288-6455-4718-877F-11C6488B89DC}"/>
              </a:ext>
            </a:extLst>
          </p:cNvPr>
          <p:cNvSpPr>
            <a:spLocks noGrp="1"/>
          </p:cNvSpPr>
          <p:nvPr/>
        </p:nvSpPr>
        <p:spPr>
          <a:xfrm>
            <a:off x="781050" y="4352925"/>
            <a:ext cx="268605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F2D4E8-B7BB-401C-B5B1-858EAF9D8396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2095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Mention « Bon pour accord »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B1619F9C-07E4-4BB3-9202-05DA698DBABB}"/>
              </a:ext>
            </a:extLst>
          </p:cNvPr>
          <p:cNvSpPr>
            <a:spLocks noGrp="1"/>
          </p:cNvSpPr>
          <p:nvPr/>
        </p:nvSpPr>
        <p:spPr>
          <a:xfrm>
            <a:off x="781050" y="5410200"/>
            <a:ext cx="268605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79DC8AC-55B0-460D-8AA1-E918CC04DB41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3162300" cy="2705100"/>
          </a:xfrm>
          <a:prstGeom prst="roundRect">
            <a:avLst>
              <a:gd name="adj" fmla="val 5634"/>
            </a:avLst>
          </a:prstGeom>
          <a:solidFill>
            <a:srgbClr val="FFFDF8"/>
          </a:solidFill>
          <a:ln w="11906">
            <a:solidFill>
              <a:srgbClr val="D7B3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F520780-81DB-448A-B14B-546B4A5AE7E2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3162300" cy="504825"/>
          </a:xfrm>
          <a:prstGeom prst="roundRect">
            <a:avLst>
              <a:gd name="adj" fmla="val 30189"/>
            </a:avLst>
          </a:prstGeom>
          <a:solidFill>
            <a:srgbClr val="062B20"/>
          </a:solidFill>
          <a:ln w="0">
            <a:solidFill>
              <a:srgbClr val="062B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289A0F-0843-4637-A911-13149B286C0B}"/>
              </a:ext>
            </a:extLst>
          </p:cNvPr>
          <p:cNvSpPr>
            <a:spLocks noGrp="1"/>
          </p:cNvSpPr>
          <p:nvPr/>
        </p:nvSpPr>
        <p:spPr>
          <a:xfrm>
            <a:off x="4095750" y="3009900"/>
            <a:ext cx="2686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POUR CLC TRAITEUR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55560-9C4B-4309-9820-713E9F26617D}"/>
              </a:ext>
            </a:extLst>
          </p:cNvPr>
          <p:cNvSpPr>
            <a:spLocks noGrp="1"/>
          </p:cNvSpPr>
          <p:nvPr/>
        </p:nvSpPr>
        <p:spPr>
          <a:xfrm>
            <a:off x="4095750" y="3714750"/>
            <a:ext cx="1143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Nom / Société</a:t>
            </a: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8FB13057-9718-4F1D-909B-4F3AA3C75839}"/>
              </a:ext>
            </a:extLst>
          </p:cNvPr>
          <p:cNvSpPr>
            <a:spLocks noGrp="1"/>
          </p:cNvSpPr>
          <p:nvPr/>
        </p:nvSpPr>
        <p:spPr>
          <a:xfrm>
            <a:off x="4095750" y="4352925"/>
            <a:ext cx="268605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BF152-001B-4BD5-8B06-4CC299E8DD10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2095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088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Signature &amp; cachet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2F7CCCC9-1850-40EE-8312-519F90634866}"/>
              </a:ext>
            </a:extLst>
          </p:cNvPr>
          <p:cNvSpPr>
            <a:spLocks noGrp="1"/>
          </p:cNvSpPr>
          <p:nvPr/>
        </p:nvSpPr>
        <p:spPr>
          <a:xfrm>
            <a:off x="4095750" y="5410200"/>
            <a:ext cx="268605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7" name="Graphique 5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57950" y="4743450"/>
            <a:ext cx="238125" cy="238125"/>
          </a:xfrm>
          <a:prstGeom prst="rect">
            <a:avLst/>
          </a:prstGeom>
        </p:spPr>
      </p:pic>
      <p:pic>
        <p:nvPicPr>
          <p:cNvPr id="58" name="Image 57"/>
          <p:cNvPicPr>
            <a:picLocks noChangeAspect="1"/>
          </p:cNvPicPr>
          <p:nvPr/>
        </p:nvPicPr>
        <p:blipFill>
          <a:blip r:embed="rId5"/>
          <a:srcRect t="17867" b="17867"/>
          <a:stretch>
            <a:fillRect/>
          </a:stretch>
        </p:blipFill>
        <p:spPr>
          <a:xfrm>
            <a:off x="542925" y="6076950"/>
            <a:ext cx="6477000" cy="2781300"/>
          </a:xfrm>
          <a:prstGeom prst="roundRect">
            <a:avLst>
              <a:gd name="adj" fmla="val 5822"/>
            </a:avLst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AAE507F-0808-476B-A609-2B24D62CA599}"/>
              </a:ext>
            </a:extLst>
          </p:cNvPr>
          <p:cNvSpPr>
            <a:spLocks noGrp="1"/>
          </p:cNvSpPr>
          <p:nvPr/>
        </p:nvSpPr>
        <p:spPr>
          <a:xfrm>
            <a:off x="542925" y="8010525"/>
            <a:ext cx="6477000" cy="847725"/>
          </a:xfrm>
          <a:prstGeom prst="roundRect">
            <a:avLst>
              <a:gd name="adj" fmla="val 19101"/>
            </a:avLst>
          </a:prstGeom>
          <a:solidFill>
            <a:srgbClr val="062B20">
              <a:alpha val="8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1A3B-AAA5-4203-A76C-C079F4ED4347}"/>
              </a:ext>
            </a:extLst>
          </p:cNvPr>
          <p:cNvSpPr>
            <a:spLocks noGrp="1"/>
          </p:cNvSpPr>
          <p:nvPr/>
        </p:nvSpPr>
        <p:spPr>
          <a:xfrm>
            <a:off x="819150" y="8096250"/>
            <a:ext cx="5924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784" lnSpcReduction="10000"/>
          </a:bodyPr>
          <a:lstStyle/>
          <a:p>
            <a:pPr algn="ctr">
              <a:defRPr sz="2550" b="0" i="0">
                <a:solidFill>
                  <a:srgbClr val="F4E0AE"/>
                </a:solidFill>
                <a:latin typeface="Allura"/>
                <a:ea typeface="Allura"/>
                <a:cs typeface="Allura"/>
              </a:defRPr>
            </a:pPr>
            <a:r>
              <a:rPr sz="2550" b="0" i="0">
                <a:solidFill>
                  <a:srgbClr val="F4E0AE"/>
                </a:solidFill>
                <a:latin typeface="Allura"/>
                <a:ea typeface="Allura"/>
                <a:cs typeface="Allura"/>
              </a:rPr>
              <a:t>Merci pour votre confiance.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722829-ACCE-49EF-93CD-6BF885948B51}"/>
              </a:ext>
            </a:extLst>
          </p:cNvPr>
          <p:cNvSpPr>
            <a:spLocks noGrp="1"/>
          </p:cNvSpPr>
          <p:nvPr/>
        </p:nvSpPr>
        <p:spPr>
          <a:xfrm>
            <a:off x="952500" y="8439150"/>
            <a:ext cx="5657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63" b="0" i="0">
                <a:solidFill>
                  <a:srgbClr val="FFFFFF"/>
                </a:solidFill>
                <a:latin typeface="Raleway"/>
                <a:ea typeface="Raleway"/>
                <a:cs typeface="Raleway"/>
              </a:defRPr>
            </a:pPr>
            <a:r>
              <a:rPr sz="1163" b="0" i="0">
                <a:solidFill>
                  <a:srgbClr val="FFFFFF"/>
                </a:solidFill>
                <a:latin typeface="Raleway"/>
                <a:ea typeface="Raleway"/>
                <a:cs typeface="Raleway"/>
              </a:rPr>
              <a:t>Nous avons hâte de faire de votre événement un moment inoubliable.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487205-F9A0-42E8-ADC9-DF91CAFA9395}"/>
              </a:ext>
            </a:extLst>
          </p:cNvPr>
          <p:cNvSpPr>
            <a:spLocks noGrp="1"/>
          </p:cNvSpPr>
          <p:nvPr/>
        </p:nvSpPr>
        <p:spPr>
          <a:xfrm>
            <a:off x="952500" y="91249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25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Fait à</a:t>
            </a:r>
          </a:p>
        </p:txBody>
      </p:sp>
      <p:sp>
        <p:nvSpPr>
          <p:cNvPr id="30" name="Connecteur droit 29">
            <a:extLst>
              <a:ext uri="{FF2B5EF4-FFF2-40B4-BE49-F238E27FC236}">
                <a16:creationId xmlns:a16="http://schemas.microsoft.com/office/drawing/2014/main" id="{44CCB61F-69A5-485E-BB76-6532FFAA2449}"/>
              </a:ext>
            </a:extLst>
          </p:cNvPr>
          <p:cNvSpPr>
            <a:spLocks noGrp="1"/>
          </p:cNvSpPr>
          <p:nvPr/>
        </p:nvSpPr>
        <p:spPr>
          <a:xfrm>
            <a:off x="1504950" y="9344025"/>
            <a:ext cx="2000250" cy="0"/>
          </a:xfrm>
          <a:prstGeom prst="line">
            <a:avLst/>
          </a:prstGeom>
          <a:noFill/>
          <a:ln w="8573">
            <a:solidFill>
              <a:srgbClr val="6C6A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01685B-5D0C-4D00-B42F-39E526A6ECCE}"/>
              </a:ext>
            </a:extLst>
          </p:cNvPr>
          <p:cNvSpPr>
            <a:spLocks noGrp="1"/>
          </p:cNvSpPr>
          <p:nvPr/>
        </p:nvSpPr>
        <p:spPr>
          <a:xfrm>
            <a:off x="4019550" y="9124950"/>
            <a:ext cx="333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25" b="1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Le</a:t>
            </a:r>
          </a:p>
        </p:txBody>
      </p:sp>
      <p:sp>
        <p:nvSpPr>
          <p:cNvPr id="32" name="Connecteur droit 31">
            <a:extLst>
              <a:ext uri="{FF2B5EF4-FFF2-40B4-BE49-F238E27FC236}">
                <a16:creationId xmlns:a16="http://schemas.microsoft.com/office/drawing/2014/main" id="{C9037503-D37A-40EC-A421-4803DC8C75DA}"/>
              </a:ext>
            </a:extLst>
          </p:cNvPr>
          <p:cNvSpPr>
            <a:spLocks noGrp="1"/>
          </p:cNvSpPr>
          <p:nvPr/>
        </p:nvSpPr>
        <p:spPr>
          <a:xfrm>
            <a:off x="4343400" y="9344025"/>
            <a:ext cx="2266950" cy="0"/>
          </a:xfrm>
          <a:prstGeom prst="line">
            <a:avLst/>
          </a:prstGeom>
          <a:noFill/>
          <a:ln w="8573">
            <a:solidFill>
              <a:srgbClr val="6C6A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50351A1-6978-4CFE-98CF-48718AD90C44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fr-FR" sz="13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</a:t>
            </a:r>
            <a:endParaRPr sz="135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7CC4779-66D6-41D7-AB33-F057CC1C6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27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9A67ACE-E339-4CCD-BE31-C81A4919C149}"/>
              </a:ext>
            </a:extLst>
          </p:cNvPr>
          <p:cNvSpPr>
            <a:spLocks noGrp="1"/>
          </p:cNvSpPr>
          <p:nvPr/>
        </p:nvSpPr>
        <p:spPr>
          <a:xfrm>
            <a:off x="171450" y="171450"/>
            <a:ext cx="7219950" cy="10353675"/>
          </a:xfrm>
          <a:prstGeom prst="roundRect">
            <a:avLst>
              <a:gd name="adj" fmla="val 1979"/>
            </a:avLst>
          </a:prstGeom>
          <a:noFill/>
          <a:ln w="6191">
            <a:solidFill>
              <a:srgbClr val="DCC7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092D2-F05C-4026-BE3D-DEE3A3A17259}"/>
              </a:ext>
            </a:extLst>
          </p:cNvPr>
          <p:cNvSpPr>
            <a:spLocks noGrp="1"/>
          </p:cNvSpPr>
          <p:nvPr/>
        </p:nvSpPr>
        <p:spPr>
          <a:xfrm>
            <a:off x="3181350" y="2190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5271F"/>
                </a:solidFill>
                <a:latin typeface="Montserrat"/>
                <a:ea typeface="Montserrat"/>
                <a:cs typeface="Montserrat"/>
              </a:rPr>
              <a:t>CLC TRAITEUR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0FBDB-68E2-49CA-8D27-F7A0F52D2F78}"/>
              </a:ext>
            </a:extLst>
          </p:cNvPr>
          <p:cNvSpPr>
            <a:spLocks noGrp="1"/>
          </p:cNvSpPr>
          <p:nvPr/>
        </p:nvSpPr>
        <p:spPr>
          <a:xfrm>
            <a:off x="3181350" y="514350"/>
            <a:ext cx="2238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defRPr>
            </a:pPr>
            <a:r>
              <a:rPr sz="1050" b="0" i="1">
                <a:solidFill>
                  <a:srgbClr val="15271F"/>
                </a:solidFill>
                <a:latin typeface="Raleway"/>
                <a:ea typeface="Raleway"/>
                <a:cs typeface="Raleway"/>
              </a:rPr>
              <a:t>Traiteur événementiel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6B591-0814-4E77-BBB4-0313AF66BBC3}"/>
              </a:ext>
            </a:extLst>
          </p:cNvPr>
          <p:cNvSpPr>
            <a:spLocks noGrp="1"/>
          </p:cNvSpPr>
          <p:nvPr/>
        </p:nvSpPr>
        <p:spPr>
          <a:xfrm>
            <a:off x="438150" y="990600"/>
            <a:ext cx="66865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LÉGENDE DES PICTOGRAMMES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64CBE-EFB1-4625-A3AC-BF2AFCB31FC3}"/>
              </a:ext>
            </a:extLst>
          </p:cNvPr>
          <p:cNvSpPr>
            <a:spLocks noGrp="1"/>
          </p:cNvSpPr>
          <p:nvPr/>
        </p:nvSpPr>
        <p:spPr>
          <a:xfrm>
            <a:off x="666750" y="1533525"/>
            <a:ext cx="622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1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350" b="0" i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Référentiel des icônes culinaires et des plats associés</a:t>
            </a: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2CFA12C-6926-49A6-B208-34505B88843A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6343650" cy="0"/>
          </a:xfrm>
          <a:prstGeom prst="line">
            <a:avLst/>
          </a:prstGeom>
          <a:noFill/>
          <a:ln w="9525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0" name="Graphique 5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2925" y="2228850"/>
            <a:ext cx="295275" cy="2952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156411-1823-405D-AA9F-AA8B005658CC}"/>
              </a:ext>
            </a:extLst>
          </p:cNvPr>
          <p:cNvSpPr>
            <a:spLocks noGrp="1"/>
          </p:cNvSpPr>
          <p:nvPr/>
        </p:nvSpPr>
        <p:spPr>
          <a:xfrm>
            <a:off x="962025" y="21526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Entrées &amp; légumes frais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3D5AC-BC5F-4B4C-9638-57935B2C6EC2}"/>
              </a:ext>
            </a:extLst>
          </p:cNvPr>
          <p:cNvSpPr>
            <a:spLocks noGrp="1"/>
          </p:cNvSpPr>
          <p:nvPr/>
        </p:nvSpPr>
        <p:spPr>
          <a:xfrm>
            <a:off x="962025" y="24955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41"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Légumes glacés de saison · Verrines avocat-crevettes · Salade fraîcheur · Riz pilaf aux légumes · Salade verte &amp; crudités · Verrines gourmandes · Légumes sautés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AC001F1C-2030-4609-9FE0-751BDF80ED65}"/>
              </a:ext>
            </a:extLst>
          </p:cNvPr>
          <p:cNvSpPr>
            <a:spLocks noGrp="1"/>
          </p:cNvSpPr>
          <p:nvPr/>
        </p:nvSpPr>
        <p:spPr>
          <a:xfrm>
            <a:off x="962025" y="33051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4" name="Graphique 6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42925" y="3467100"/>
            <a:ext cx="295275" cy="2952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A61031-7950-4E07-BABA-53DB24D0057A}"/>
              </a:ext>
            </a:extLst>
          </p:cNvPr>
          <p:cNvSpPr>
            <a:spLocks noGrp="1"/>
          </p:cNvSpPr>
          <p:nvPr/>
        </p:nvSpPr>
        <p:spPr>
          <a:xfrm>
            <a:off x="962025" y="339090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Veloutés &amp; potages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771A38-ACA2-4662-951B-C078E116BE6F}"/>
              </a:ext>
            </a:extLst>
          </p:cNvPr>
          <p:cNvSpPr>
            <a:spLocks noGrp="1"/>
          </p:cNvSpPr>
          <p:nvPr/>
        </p:nvSpPr>
        <p:spPr>
          <a:xfrm>
            <a:off x="962025" y="373380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Velouté de légumes de saison</a:t>
            </a:r>
          </a:p>
        </p:txBody>
      </p:sp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DB68F5F1-3F5E-4E58-830E-1F936EAA5790}"/>
              </a:ext>
            </a:extLst>
          </p:cNvPr>
          <p:cNvSpPr>
            <a:spLocks noGrp="1"/>
          </p:cNvSpPr>
          <p:nvPr/>
        </p:nvSpPr>
        <p:spPr>
          <a:xfrm>
            <a:off x="962025" y="454342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8" name="Graphique 6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42925" y="4705350"/>
            <a:ext cx="295275" cy="29527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7A1286D-E91B-4AF8-8429-C541897F5C11}"/>
              </a:ext>
            </a:extLst>
          </p:cNvPr>
          <p:cNvSpPr>
            <a:spLocks noGrp="1"/>
          </p:cNvSpPr>
          <p:nvPr/>
        </p:nvSpPr>
        <p:spPr>
          <a:xfrm>
            <a:off x="962025" y="46291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Plats cuisinés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8408EF-0C7A-4993-9693-3E45B05ACEEF}"/>
              </a:ext>
            </a:extLst>
          </p:cNvPr>
          <p:cNvSpPr>
            <a:spLocks noGrp="1"/>
          </p:cNvSpPr>
          <p:nvPr/>
        </p:nvSpPr>
        <p:spPr>
          <a:xfrm>
            <a:off x="962025" y="49720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838" lnSpcReduction="10000"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Brochettes de crevettes marinées · Accras de morue &amp; sauce aïoli · Riz parfumé aux épices · Mini quiches assorties · Œufs brouillés aux herbes · Canapés variés · Brochettes mixtes · Riz aux herbes · Sauces maison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A975B85A-57BF-4B07-9F9B-AD5EB52D6349}"/>
              </a:ext>
            </a:extLst>
          </p:cNvPr>
          <p:cNvSpPr>
            <a:spLocks noGrp="1"/>
          </p:cNvSpPr>
          <p:nvPr/>
        </p:nvSpPr>
        <p:spPr>
          <a:xfrm>
            <a:off x="962025" y="57816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2" name="Graphique 7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42925" y="5943600"/>
            <a:ext cx="295275" cy="2952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239BFA6-1E69-41EB-9C7B-4EB577BC40DD}"/>
              </a:ext>
            </a:extLst>
          </p:cNvPr>
          <p:cNvSpPr>
            <a:spLocks noGrp="1"/>
          </p:cNvSpPr>
          <p:nvPr/>
        </p:nvSpPr>
        <p:spPr>
          <a:xfrm>
            <a:off x="962025" y="586740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Viandes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36F5C2-0ACF-4E28-B76A-5436BC116C98}"/>
              </a:ext>
            </a:extLst>
          </p:cNvPr>
          <p:cNvSpPr>
            <a:spLocks noGrp="1"/>
          </p:cNvSpPr>
          <p:nvPr/>
        </p:nvSpPr>
        <p:spPr>
          <a:xfrm>
            <a:off x="962025" y="621030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Mini samoussas au bœuf · Brochettes de poulet yakitori · Jollof rice au poulet · Mafé de bœuf · Mini wraps au poulet · Poulet grillé sauce moutarde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420FE795-EDDC-4108-A08E-01CABDC7ED3B}"/>
              </a:ext>
            </a:extLst>
          </p:cNvPr>
          <p:cNvSpPr>
            <a:spLocks noGrp="1"/>
          </p:cNvSpPr>
          <p:nvPr/>
        </p:nvSpPr>
        <p:spPr>
          <a:xfrm>
            <a:off x="962025" y="701992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6" name="Graphique 7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42925" y="7181850"/>
            <a:ext cx="295275" cy="2952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21C95B5-2C43-4FDC-A799-68F716898D5B}"/>
              </a:ext>
            </a:extLst>
          </p:cNvPr>
          <p:cNvSpPr>
            <a:spLocks noGrp="1"/>
          </p:cNvSpPr>
          <p:nvPr/>
        </p:nvSpPr>
        <p:spPr>
          <a:xfrm>
            <a:off x="962025" y="71056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Poissons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1F44CC-4263-4F36-AB11-2468D73B3081}"/>
              </a:ext>
            </a:extLst>
          </p:cNvPr>
          <p:cNvSpPr>
            <a:spLocks noGrp="1"/>
          </p:cNvSpPr>
          <p:nvPr/>
        </p:nvSpPr>
        <p:spPr>
          <a:xfrm>
            <a:off x="962025" y="74485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Filet de bar sauce beurre blanc · Attiéké &amp; poisson braisé · Poisson braisé façon du chef</a:t>
            </a:r>
          </a:p>
        </p:txBody>
      </p:sp>
      <p:sp>
        <p:nvSpPr>
          <p:cNvPr id="27" name="Connecteur droit 26">
            <a:extLst>
              <a:ext uri="{FF2B5EF4-FFF2-40B4-BE49-F238E27FC236}">
                <a16:creationId xmlns:a16="http://schemas.microsoft.com/office/drawing/2014/main" id="{2ADCF2F4-B068-4A3F-AA16-7B66C13B3FED}"/>
              </a:ext>
            </a:extLst>
          </p:cNvPr>
          <p:cNvSpPr>
            <a:spLocks noGrp="1"/>
          </p:cNvSpPr>
          <p:nvPr/>
        </p:nvSpPr>
        <p:spPr>
          <a:xfrm>
            <a:off x="962025" y="82581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0" name="Graphique 7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542925" y="8420100"/>
            <a:ext cx="295275" cy="2952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4276604-6491-490F-ACCD-4DF9689E3C6B}"/>
              </a:ext>
            </a:extLst>
          </p:cNvPr>
          <p:cNvSpPr>
            <a:spLocks noGrp="1"/>
          </p:cNvSpPr>
          <p:nvPr/>
        </p:nvSpPr>
        <p:spPr>
          <a:xfrm>
            <a:off x="962025" y="834390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Desserts &amp; pâtisseries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80576A-5364-40A5-9857-1F9163F84FB2}"/>
              </a:ext>
            </a:extLst>
          </p:cNvPr>
          <p:cNvSpPr>
            <a:spLocks noGrp="1"/>
          </p:cNvSpPr>
          <p:nvPr/>
        </p:nvSpPr>
        <p:spPr>
          <a:xfrm>
            <a:off x="962025" y="868680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49" lnSpcReduction="20000"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Pièce montée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vanille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&amp; fruits rouges ·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Mignardises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assorties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Gâteau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d’anniversaire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personnalisé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Mini pâtisseries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assorties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Cupcakes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décorés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Macarons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variés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Sucettes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</a:t>
            </a:r>
            <a:r>
              <a:rPr sz="1110" b="0" i="0" dirty="0" err="1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chocolatées</a:t>
            </a:r>
            <a:r>
              <a:rPr sz="1110" b="0" i="0" dirty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 · Tartelette aux fruits · Pâtisseries miniatures · Assiette de desserts</a:t>
            </a:r>
            <a:endParaRPr lang="fr-FR" sz="1110" b="0" i="0" dirty="0">
              <a:solidFill>
                <a:srgbClr val="6C6A62"/>
              </a:solidFill>
              <a:latin typeface="Raleway"/>
              <a:ea typeface="Raleway"/>
              <a:cs typeface="Raleway"/>
            </a:endParaRPr>
          </a:p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endParaRPr sz="1110" b="0" i="0" dirty="0">
              <a:solidFill>
                <a:srgbClr val="6C6A62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31" name="Connecteur droit 30">
            <a:extLst>
              <a:ext uri="{FF2B5EF4-FFF2-40B4-BE49-F238E27FC236}">
                <a16:creationId xmlns:a16="http://schemas.microsoft.com/office/drawing/2014/main" id="{BEFA3A35-5571-45F9-B8C9-17722C8D07BB}"/>
              </a:ext>
            </a:extLst>
          </p:cNvPr>
          <p:cNvSpPr>
            <a:spLocks noGrp="1"/>
          </p:cNvSpPr>
          <p:nvPr/>
        </p:nvSpPr>
        <p:spPr>
          <a:xfrm>
            <a:off x="962025" y="949642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4" name="Graphique 83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3914775" y="2228850"/>
            <a:ext cx="295275" cy="29527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401F363F-8291-45AD-83FF-45D0A5B73E07}"/>
              </a:ext>
            </a:extLst>
          </p:cNvPr>
          <p:cNvSpPr>
            <a:spLocks noGrp="1"/>
          </p:cNvSpPr>
          <p:nvPr/>
        </p:nvSpPr>
        <p:spPr>
          <a:xfrm>
            <a:off x="4333875" y="21526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Boissons &amp; cocktails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0C44DC-FC64-4BC6-AAA4-58932F6838FB}"/>
              </a:ext>
            </a:extLst>
          </p:cNvPr>
          <p:cNvSpPr>
            <a:spLocks noGrp="1"/>
          </p:cNvSpPr>
          <p:nvPr/>
        </p:nvSpPr>
        <p:spPr>
          <a:xfrm>
            <a:off x="4333875" y="24955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Jus de bissap &amp; gingembre · Cocktails sans alcool · Jus naturels · Vins &amp; cocktails maison · Digestifs</a:t>
            </a:r>
          </a:p>
        </p:txBody>
      </p:sp>
      <p:sp>
        <p:nvSpPr>
          <p:cNvPr id="35" name="Connecteur droit 34">
            <a:extLst>
              <a:ext uri="{FF2B5EF4-FFF2-40B4-BE49-F238E27FC236}">
                <a16:creationId xmlns:a16="http://schemas.microsoft.com/office/drawing/2014/main" id="{919B54C4-1BA6-4959-BE6B-C3AB05CDA345}"/>
              </a:ext>
            </a:extLst>
          </p:cNvPr>
          <p:cNvSpPr>
            <a:spLocks noGrp="1"/>
          </p:cNvSpPr>
          <p:nvPr/>
        </p:nvSpPr>
        <p:spPr>
          <a:xfrm>
            <a:off x="4333875" y="33051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8" name="Graphique 87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3914775" y="3467100"/>
            <a:ext cx="295275" cy="29527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4E92AB0-A91E-47AD-9BDF-80D855D9260B}"/>
              </a:ext>
            </a:extLst>
          </p:cNvPr>
          <p:cNvSpPr>
            <a:spLocks noGrp="1"/>
          </p:cNvSpPr>
          <p:nvPr/>
        </p:nvSpPr>
        <p:spPr>
          <a:xfrm>
            <a:off x="4333875" y="339090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Eaux &amp; boissons fraîches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216C09-D81A-492D-95DF-11F194A78F77}"/>
              </a:ext>
            </a:extLst>
          </p:cNvPr>
          <p:cNvSpPr>
            <a:spLocks noGrp="1"/>
          </p:cNvSpPr>
          <p:nvPr/>
        </p:nvSpPr>
        <p:spPr>
          <a:xfrm>
            <a:off x="4333875" y="373380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Jus naturels &amp; eaux · Eau aromatisée</a:t>
            </a:r>
          </a:p>
        </p:txBody>
      </p:sp>
      <p:sp>
        <p:nvSpPr>
          <p:cNvPr id="39" name="Connecteur droit 38">
            <a:extLst>
              <a:ext uri="{FF2B5EF4-FFF2-40B4-BE49-F238E27FC236}">
                <a16:creationId xmlns:a16="http://schemas.microsoft.com/office/drawing/2014/main" id="{3EBD89F7-444F-45B7-90DD-945ECC787ECF}"/>
              </a:ext>
            </a:extLst>
          </p:cNvPr>
          <p:cNvSpPr>
            <a:spLocks noGrp="1"/>
          </p:cNvSpPr>
          <p:nvPr/>
        </p:nvSpPr>
        <p:spPr>
          <a:xfrm>
            <a:off x="4333875" y="454342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2" name="Graphique 91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3914775" y="4705350"/>
            <a:ext cx="295275" cy="29527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A73A817-5B5D-45A1-90F3-093BE6A2676C}"/>
              </a:ext>
            </a:extLst>
          </p:cNvPr>
          <p:cNvSpPr>
            <a:spLocks noGrp="1"/>
          </p:cNvSpPr>
          <p:nvPr/>
        </p:nvSpPr>
        <p:spPr>
          <a:xfrm>
            <a:off x="4333875" y="46291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Cafés, thés &amp; infusions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C66701-1C1B-4810-8B6B-DA921BDAEB48}"/>
              </a:ext>
            </a:extLst>
          </p:cNvPr>
          <p:cNvSpPr>
            <a:spLocks noGrp="1"/>
          </p:cNvSpPr>
          <p:nvPr/>
        </p:nvSpPr>
        <p:spPr>
          <a:xfrm>
            <a:off x="4333875" y="49720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Café &amp; infusions · Jus naturels &amp; infusions · Café, thé &amp; eau</a:t>
            </a:r>
          </a:p>
        </p:txBody>
      </p:sp>
      <p:sp>
        <p:nvSpPr>
          <p:cNvPr id="43" name="Connecteur droit 42">
            <a:extLst>
              <a:ext uri="{FF2B5EF4-FFF2-40B4-BE49-F238E27FC236}">
                <a16:creationId xmlns:a16="http://schemas.microsoft.com/office/drawing/2014/main" id="{71FD8256-4FFF-4DB8-A5BA-E1B34E070FB6}"/>
              </a:ext>
            </a:extLst>
          </p:cNvPr>
          <p:cNvSpPr>
            <a:spLocks noGrp="1"/>
          </p:cNvSpPr>
          <p:nvPr/>
        </p:nvSpPr>
        <p:spPr>
          <a:xfrm>
            <a:off x="4333875" y="57816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6" name="Graphique 95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3914775" y="5943600"/>
            <a:ext cx="295275" cy="29527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F2C634E-2E88-4A33-B8B9-29999195C77E}"/>
              </a:ext>
            </a:extLst>
          </p:cNvPr>
          <p:cNvSpPr>
            <a:spLocks noGrp="1"/>
          </p:cNvSpPr>
          <p:nvPr/>
        </p:nvSpPr>
        <p:spPr>
          <a:xfrm>
            <a:off x="4333875" y="586740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Boulangerie &amp; brunch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858655-0F9D-4F04-AD28-8102AC401755}"/>
              </a:ext>
            </a:extLst>
          </p:cNvPr>
          <p:cNvSpPr>
            <a:spLocks noGrp="1"/>
          </p:cNvSpPr>
          <p:nvPr/>
        </p:nvSpPr>
        <p:spPr>
          <a:xfrm>
            <a:off x="4333875" y="621030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Mini viennoiseries · Pancakes &amp; sirop d’érable · Pain &amp; condiments</a:t>
            </a:r>
          </a:p>
        </p:txBody>
      </p:sp>
      <p:sp>
        <p:nvSpPr>
          <p:cNvPr id="47" name="Connecteur droit 46">
            <a:extLst>
              <a:ext uri="{FF2B5EF4-FFF2-40B4-BE49-F238E27FC236}">
                <a16:creationId xmlns:a16="http://schemas.microsoft.com/office/drawing/2014/main" id="{78840B8A-A1D8-4FC9-9255-34585DB8886D}"/>
              </a:ext>
            </a:extLst>
          </p:cNvPr>
          <p:cNvSpPr>
            <a:spLocks noGrp="1"/>
          </p:cNvSpPr>
          <p:nvPr/>
        </p:nvSpPr>
        <p:spPr>
          <a:xfrm>
            <a:off x="4333875" y="701992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0" name="Graphique 99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3914775" y="7181850"/>
            <a:ext cx="295275" cy="29527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462B617-C15E-4AED-B4A3-F1418A7B07FF}"/>
              </a:ext>
            </a:extLst>
          </p:cNvPr>
          <p:cNvSpPr>
            <a:spLocks noGrp="1"/>
          </p:cNvSpPr>
          <p:nvPr/>
        </p:nvSpPr>
        <p:spPr>
          <a:xfrm>
            <a:off x="4333875" y="7105650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defRPr>
            </a:pPr>
            <a:r>
              <a:rPr sz="1313" b="1" i="0">
                <a:solidFill>
                  <a:srgbClr val="062B20"/>
                </a:solidFill>
                <a:latin typeface="Montserrat"/>
                <a:ea typeface="Montserrat"/>
                <a:cs typeface="Montserrat"/>
              </a:rPr>
              <a:t>Fruits &amp; frais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F3BBC6-DD8D-443A-9921-524C6B304D0F}"/>
              </a:ext>
            </a:extLst>
          </p:cNvPr>
          <p:cNvSpPr>
            <a:spLocks noGrp="1"/>
          </p:cNvSpPr>
          <p:nvPr/>
        </p:nvSpPr>
        <p:spPr>
          <a:xfrm>
            <a:off x="4333875" y="7448550"/>
            <a:ext cx="2686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defRPr>
            </a:pPr>
            <a:r>
              <a:rPr sz="1110" b="0" i="0">
                <a:solidFill>
                  <a:srgbClr val="6C6A62"/>
                </a:solidFill>
                <a:latin typeface="Raleway"/>
                <a:ea typeface="Raleway"/>
                <a:cs typeface="Raleway"/>
              </a:rPr>
              <a:t>Brochettes de fruits · Yaourts &amp; granola · Salade de fruits exotiques · Fruits de saison · Fruits secs · Fruits frais</a:t>
            </a:r>
          </a:p>
        </p:txBody>
      </p:sp>
      <p:sp>
        <p:nvSpPr>
          <p:cNvPr id="51" name="Connecteur droit 50">
            <a:extLst>
              <a:ext uri="{FF2B5EF4-FFF2-40B4-BE49-F238E27FC236}">
                <a16:creationId xmlns:a16="http://schemas.microsoft.com/office/drawing/2014/main" id="{FDF4FA16-AD43-46DA-B7A4-7CD89D852963}"/>
              </a:ext>
            </a:extLst>
          </p:cNvPr>
          <p:cNvSpPr>
            <a:spLocks noGrp="1"/>
          </p:cNvSpPr>
          <p:nvPr/>
        </p:nvSpPr>
        <p:spPr>
          <a:xfrm>
            <a:off x="4333875" y="8258175"/>
            <a:ext cx="2686050" cy="0"/>
          </a:xfrm>
          <a:prstGeom prst="line">
            <a:avLst/>
          </a:prstGeom>
          <a:noFill/>
          <a:ln w="7144">
            <a:solidFill>
              <a:srgbClr val="E9D8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349ABD35-46B6-40E8-8982-BAD528E60334}"/>
              </a:ext>
            </a:extLst>
          </p:cNvPr>
          <p:cNvSpPr>
            <a:spLocks noGrp="1"/>
          </p:cNvSpPr>
          <p:nvPr/>
        </p:nvSpPr>
        <p:spPr>
          <a:xfrm>
            <a:off x="3581400" y="10058400"/>
            <a:ext cx="400050" cy="400050"/>
          </a:xfrm>
          <a:prstGeom prst="ellipse">
            <a:avLst/>
          </a:prstGeom>
          <a:solidFill>
            <a:srgbClr val="C99A43"/>
          </a:solidFill>
          <a:ln w="9525">
            <a:solidFill>
              <a:srgbClr val="D7B36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fr-FR" sz="13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</a:t>
            </a:r>
            <a:endParaRPr sz="135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" name="Image 1" descr="Une image contenant sourire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B75035BD-1BCC-D8A3-1D50-681CF5327E1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881" y="228294"/>
            <a:ext cx="488194" cy="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694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3061</Words>
  <Application>Microsoft Office PowerPoint</Application>
  <DocSecurity>0</DocSecurity>
  <PresentationFormat>Personnalisé</PresentationFormat>
  <Paragraphs>792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Allura</vt:lpstr>
      <vt:lpstr>Calibri</vt:lpstr>
      <vt:lpstr>Montserrat</vt:lpstr>
      <vt:lpstr>Raleway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Ricardo Mbe</cp:lastModifiedBy>
  <cp:revision>2</cp:revision>
  <dcterms:created xsi:type="dcterms:W3CDTF">2026-08-08T12:36:18Z</dcterms:created>
  <dcterms:modified xsi:type="dcterms:W3CDTF">2026-08-08T13:16:31Z</dcterms:modified>
</cp:coreProperties>
</file>